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y="5143500" cx="9144000"/>
  <p:notesSz cx="6858000" cy="9144000"/>
  <p:embeddedFontLst>
    <p:embeddedFont>
      <p:font typeface="Roboto"/>
      <p:regular r:id="rId26"/>
      <p:bold r:id="rId27"/>
      <p:italic r:id="rId28"/>
      <p:boldItalic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font" Target="fonts/Roboto-regular.fntdata"/><Relationship Id="rId27" Type="http://schemas.openxmlformats.org/officeDocument/2006/relationships/font" Target="fonts/Roboto-bold.fntdata"/><Relationship Id="rId28" Type="http://schemas.openxmlformats.org/officeDocument/2006/relationships/font" Target="fonts/Roboto-italic.fntdata"/><Relationship Id="rId29" Type="http://schemas.openxmlformats.org/officeDocument/2006/relationships/font" Target="fonts/Roboto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f57f6e5634_2_7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g3f57f6e5634_2_7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f57f6e5634_2_8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g3f57f6e5634_2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57f6e5634_2_8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g3f57f6e5634_2_8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f57f6e5634_2_9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g3f57f6e5634_2_9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f57f6e5634_2_10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g3f57f6e5634_2_10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f57f6e5634_2_1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g3f57f6e5634_2_1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f57f6e5634_2_1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g3f57f6e5634_2_1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f57f6e5634_2_1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g3f57f6e5634_2_1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f57f6e5634_2_14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g3f57f6e5634_2_14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f57f6e5634_2_15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g3f57f6e5634_2_15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f57f6e5634_2_15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g3f57f6e5634_2_15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f57f6e5634_2_16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g3f57f6e5634_2_16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f57f6e5634_2_17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g3f57f6e5634_2_17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f57f6e5634_2_18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g3f57f6e5634_2_18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f57f6e5634_2_19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g3f57f6e5634_2_19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f57f6e5634_2_20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g3f57f6e5634_2_20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f57f6e5634_2_2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g3f57f6e5634_2_2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f57f6e5634_2_2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g3f57f6e5634_2_2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f57f6e5634_2_2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g3f57f6e5634_2_2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g3f57f6e5634_2_23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type="title"/>
          </p:nvPr>
        </p:nvSpPr>
        <p:spPr>
          <a:xfrm>
            <a:off x="628650" y="111919"/>
            <a:ext cx="7886700" cy="40243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b="1" sz="18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4" name="Google Shape;84;p18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6" name="Google Shape;86;p18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8" name="Google Shape;88;p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2.png"/><Relationship Id="rId6" Type="http://schemas.openxmlformats.org/officeDocument/2006/relationships/image" Target="../media/image2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.png"/><Relationship Id="rId5" Type="http://schemas.openxmlformats.org/officeDocument/2006/relationships/image" Target="../media/image10.png"/><Relationship Id="rId6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jpg"/><Relationship Id="rId4" Type="http://schemas.openxmlformats.org/officeDocument/2006/relationships/image" Target="../media/image2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1.png"/><Relationship Id="rId4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Relationship Id="rId4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Relationship Id="rId4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1.png"/><Relationship Id="rId4" Type="http://schemas.openxmlformats.org/officeDocument/2006/relationships/image" Target="../media/image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4.jpg"/><Relationship Id="rId4" Type="http://schemas.openxmlformats.org/officeDocument/2006/relationships/image" Target="../media/image20.jpg"/><Relationship Id="rId5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/>
          <p:nvPr/>
        </p:nvSpPr>
        <p:spPr>
          <a:xfrm>
            <a:off x="2310063" y="2050182"/>
            <a:ext cx="4266397" cy="77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Trebuchet MS"/>
              <a:buNone/>
            </a:pPr>
            <a:r>
              <a:rPr b="1" i="0" lang="en" sz="21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MySilah.ae</a:t>
            </a:r>
            <a:endParaRPr sz="1100"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Trebuchet MS"/>
              <a:buNone/>
            </a:pPr>
            <a:r>
              <a:rPr b="1" i="0" lang="en" sz="21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User Journey Template for Integrating with UAE PASS Authentication</a:t>
            </a:r>
            <a:endParaRPr sz="1100"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Trebuchet MS"/>
              <a:buNone/>
            </a:pPr>
            <a:r>
              <a:rPr b="1" i="0" lang="en" sz="9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version 1.1</a:t>
            </a:r>
            <a:endParaRPr sz="1100"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Calibri"/>
              <a:buNone/>
            </a:pPr>
            <a:r>
              <a:t/>
            </a:r>
            <a:endParaRPr b="1" i="0" sz="2100" u="none" cap="none" strike="noStrike"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6"/>
          <p:cNvSpPr txBox="1"/>
          <p:nvPr>
            <p:ph type="title"/>
          </p:nvPr>
        </p:nvSpPr>
        <p:spPr>
          <a:xfrm>
            <a:off x="628650" y="488003"/>
            <a:ext cx="7886700" cy="40243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</a:pPr>
            <a:r>
              <a:rPr lang="en" sz="2700" u="sng"/>
              <a:t>Instructions</a:t>
            </a:r>
            <a:endParaRPr/>
          </a:p>
        </p:txBody>
      </p:sp>
      <p:sp>
        <p:nvSpPr>
          <p:cNvPr id="135" name="Google Shape;135;p26"/>
          <p:cNvSpPr txBox="1"/>
          <p:nvPr>
            <p:ph idx="1" type="body"/>
          </p:nvPr>
        </p:nvSpPr>
        <p:spPr>
          <a:xfrm>
            <a:off x="628650" y="1332035"/>
            <a:ext cx="7886700" cy="32018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This template document will guide you through creating your new user journey with UAE PASS.</a:t>
            </a:r>
            <a:endParaRPr/>
          </a:p>
          <a:p>
            <a:pPr indent="-635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800"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Please use this template to show how you are integrating UAE PASS within your digital channel. </a:t>
            </a:r>
            <a:endParaRPr/>
          </a:p>
          <a:p>
            <a:pPr indent="-635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800"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Please add English and Arabic version of each scenario  </a:t>
            </a:r>
            <a:endParaRPr/>
          </a:p>
          <a:p>
            <a:pPr indent="-635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800"/>
          </a:p>
          <a:p>
            <a:pPr indent="-1778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" sz="1800"/>
              <a:t>Do submit your user journey in </a:t>
            </a:r>
            <a:r>
              <a:rPr b="1" lang="en" sz="1800"/>
              <a:t>PDF format</a:t>
            </a:r>
            <a:r>
              <a:rPr lang="en" sz="1800"/>
              <a:t>. Submissions that are not in this format will not be processed. </a:t>
            </a:r>
            <a:endParaRPr/>
          </a:p>
          <a:p>
            <a:pPr indent="-635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800"/>
          </a:p>
          <a:p>
            <a:pPr indent="-6350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800"/>
          </a:p>
          <a:p>
            <a:pPr indent="0" lvl="1" marL="3429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t/>
            </a:r>
            <a:endParaRPr sz="1500">
              <a:solidFill>
                <a:srgbClr val="595959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7"/>
          <p:cNvSpPr txBox="1"/>
          <p:nvPr>
            <p:ph type="title"/>
          </p:nvPr>
        </p:nvSpPr>
        <p:spPr>
          <a:xfrm>
            <a:off x="551008" y="295370"/>
            <a:ext cx="7886700" cy="545836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" u="sng"/>
              <a:t>Sign-in with UAE PASS </a:t>
            </a:r>
            <a:endParaRPr/>
          </a:p>
        </p:txBody>
      </p:sp>
      <p:sp>
        <p:nvSpPr>
          <p:cNvPr id="141" name="Google Shape;141;p27"/>
          <p:cNvSpPr/>
          <p:nvPr/>
        </p:nvSpPr>
        <p:spPr>
          <a:xfrm>
            <a:off x="546100" y="923150"/>
            <a:ext cx="4876200" cy="3327900"/>
          </a:xfrm>
          <a:prstGeom prst="rect">
            <a:avLst/>
          </a:prstGeom>
          <a:noFill/>
          <a:ln cap="flat" cmpd="sng" w="12700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2" name="Google Shape;142;p27"/>
          <p:cNvPicPr preferRelativeResize="0"/>
          <p:nvPr/>
        </p:nvPicPr>
        <p:blipFill rotWithShape="1">
          <a:blip r:embed="rId3">
            <a:alphaModFix/>
          </a:blip>
          <a:srcRect b="7727" l="0" r="0" t="0"/>
          <a:stretch/>
        </p:blipFill>
        <p:spPr>
          <a:xfrm>
            <a:off x="5802923" y="819972"/>
            <a:ext cx="2841652" cy="1936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7"/>
          <p:cNvPicPr preferRelativeResize="0"/>
          <p:nvPr/>
        </p:nvPicPr>
        <p:blipFill rotWithShape="1">
          <a:blip r:embed="rId4">
            <a:alphaModFix/>
          </a:blip>
          <a:srcRect b="8876" l="0" r="0" t="0"/>
          <a:stretch/>
        </p:blipFill>
        <p:spPr>
          <a:xfrm>
            <a:off x="6049058" y="2812054"/>
            <a:ext cx="1160430" cy="21270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306407" y="2848049"/>
            <a:ext cx="1092436" cy="2038326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27"/>
          <p:cNvSpPr txBox="1"/>
          <p:nvPr/>
        </p:nvSpPr>
        <p:spPr>
          <a:xfrm>
            <a:off x="548650" y="3616484"/>
            <a:ext cx="49722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           </a:t>
            </a:r>
            <a:r>
              <a:rPr b="0" i="0" lang="en" sz="6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EN: User visits app.mysilah.ae/login. Clicks "Sign in with UAE PASS" button to initiate UAE PASS OIDC authentication flow.</a:t>
            </a:r>
            <a:endParaRPr sz="1100"/>
          </a:p>
        </p:txBody>
      </p:sp>
      <p:pic>
        <p:nvPicPr>
          <p:cNvPr id="146" name="Google Shape;146;p2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7400" y="1071400"/>
            <a:ext cx="4312376" cy="2080375"/>
          </a:xfrm>
          <a:prstGeom prst="rect">
            <a:avLst/>
          </a:prstGeom>
          <a:noFill/>
          <a:ln cap="flat" cmpd="sng" w="12700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8"/>
          <p:cNvSpPr txBox="1"/>
          <p:nvPr>
            <p:ph type="title"/>
          </p:nvPr>
        </p:nvSpPr>
        <p:spPr>
          <a:xfrm>
            <a:off x="518036" y="277229"/>
            <a:ext cx="7886700" cy="545836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" u="sng"/>
              <a:t>Sign up with UAE PASS (Authentication) If applicable </a:t>
            </a:r>
            <a:endParaRPr/>
          </a:p>
        </p:txBody>
      </p:sp>
      <p:sp>
        <p:nvSpPr>
          <p:cNvPr id="152" name="Google Shape;152;p28"/>
          <p:cNvSpPr/>
          <p:nvPr/>
        </p:nvSpPr>
        <p:spPr>
          <a:xfrm>
            <a:off x="511724" y="892607"/>
            <a:ext cx="4977300" cy="3564900"/>
          </a:xfrm>
          <a:prstGeom prst="rect">
            <a:avLst/>
          </a:prstGeom>
          <a:noFill/>
          <a:ln cap="flat" cmpd="sng" w="12700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3" name="Google Shape;153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94090" y="1572168"/>
            <a:ext cx="1926819" cy="126049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094090" y="2881678"/>
            <a:ext cx="1979572" cy="133862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18028" y="1572168"/>
            <a:ext cx="1476061" cy="2757283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/>
        </p:nvSpPr>
        <p:spPr>
          <a:xfrm>
            <a:off x="514350" y="3497580"/>
            <a:ext cx="49722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EN: New user visits app.mysilah.ae/register. Clicks "Sign in with UAE PASS" for instant verification via Emirates ID. MySilah auto-creates the Agent account upon successful verification.</a:t>
            </a:r>
            <a:endParaRPr sz="1100"/>
          </a:p>
        </p:txBody>
      </p:sp>
      <p:pic>
        <p:nvPicPr>
          <p:cNvPr id="157" name="Google Shape;157;p28"/>
          <p:cNvPicPr preferRelativeResize="0"/>
          <p:nvPr/>
        </p:nvPicPr>
        <p:blipFill rotWithShape="1">
          <a:blip r:embed="rId6">
            <a:alphaModFix/>
          </a:blip>
          <a:srcRect b="0" l="0" r="2657" t="0"/>
          <a:stretch/>
        </p:blipFill>
        <p:spPr>
          <a:xfrm>
            <a:off x="1733825" y="1022350"/>
            <a:ext cx="2232451" cy="22759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32061" y="270479"/>
            <a:ext cx="7886700" cy="40243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" u="sng"/>
              <a:t> Redirection to UAE PASS Login page (WEB)</a:t>
            </a:r>
            <a:endParaRPr/>
          </a:p>
        </p:txBody>
      </p:sp>
      <p:pic>
        <p:nvPicPr>
          <p:cNvPr id="163" name="Google Shape;163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5749" y="876139"/>
            <a:ext cx="3388324" cy="2521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88450" y="876140"/>
            <a:ext cx="3789599" cy="234190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5" name="Google Shape;165;p29"/>
          <p:cNvGrpSpPr/>
          <p:nvPr/>
        </p:nvGrpSpPr>
        <p:grpSpPr>
          <a:xfrm>
            <a:off x="7572427" y="1009337"/>
            <a:ext cx="1260462" cy="3124846"/>
            <a:chOff x="8642837" y="1138807"/>
            <a:chExt cx="2066670" cy="4753341"/>
          </a:xfrm>
        </p:grpSpPr>
        <p:pic>
          <p:nvPicPr>
            <p:cNvPr descr="A screenshot of a phone&#10;&#10;Description automatically generated" id="166" name="Google Shape;166;p29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8642837" y="1138807"/>
              <a:ext cx="2066670" cy="475334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7" name="Google Shape;167;p29"/>
            <p:cNvSpPr/>
            <p:nvPr/>
          </p:nvSpPr>
          <p:spPr>
            <a:xfrm>
              <a:off x="8968154" y="2312377"/>
              <a:ext cx="1582615" cy="43961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8" name="Google Shape;168;p29"/>
          <p:cNvSpPr txBox="1"/>
          <p:nvPr/>
        </p:nvSpPr>
        <p:spPr>
          <a:xfrm>
            <a:off x="205740" y="3600450"/>
            <a:ext cx="82296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3C3C64"/>
                </a:solidFill>
                <a:latin typeface="Calibri"/>
                <a:ea typeface="Calibri"/>
                <a:cs typeface="Calibri"/>
                <a:sym typeface="Calibri"/>
              </a:rPr>
              <a:t>Step 1: Enter credentials (mobile / Emirates ID / email)   |   Step 2: Browser shows number code — wait for app   |   Step 3: Select matching number in UAE PASS app + confirm PIN/Face ID</a:t>
            </a:r>
            <a:endParaRPr sz="1100"/>
          </a:p>
        </p:txBody>
      </p:sp>
      <p:sp>
        <p:nvSpPr>
          <p:cNvPr id="169" name="Google Shape;169;p29"/>
          <p:cNvSpPr txBox="1"/>
          <p:nvPr/>
        </p:nvSpPr>
        <p:spPr>
          <a:xfrm>
            <a:off x="205740" y="3922776"/>
            <a:ext cx="8229600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EN: User enters UAE PASS credentials on the web portal. Browser displays a polling page with a number code. User receives a push notification on UAE PASS mobile app, selects the matching number, and confirms with PIN or Face ID.</a:t>
            </a:r>
            <a:endParaRPr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32061" y="270479"/>
            <a:ext cx="7886700" cy="40243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" u="sng"/>
              <a:t> OR Redirection to UAE PASS Login page (App)</a:t>
            </a:r>
            <a:endParaRPr/>
          </a:p>
        </p:txBody>
      </p:sp>
      <p:pic>
        <p:nvPicPr>
          <p:cNvPr id="175" name="Google Shape;17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5621" y="1064581"/>
            <a:ext cx="1689313" cy="3664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20303" y="1064568"/>
            <a:ext cx="1689313" cy="3664952"/>
          </a:xfrm>
          <a:prstGeom prst="rect">
            <a:avLst/>
          </a:prstGeom>
          <a:noFill/>
          <a:ln cap="flat" cmpd="sng" w="952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7" name="Google Shape;177;p30"/>
          <p:cNvSpPr txBox="1"/>
          <p:nvPr/>
        </p:nvSpPr>
        <p:spPr>
          <a:xfrm>
            <a:off x="5299700" y="1798850"/>
            <a:ext cx="3771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Not Applicable</a:t>
            </a:r>
            <a:br>
              <a:rPr b="0" i="0" lang="en" sz="9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" sz="9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MySilah is a web-only platform. No native mobile application exists.</a:t>
            </a:r>
            <a:br>
              <a:rPr b="0" i="0" lang="en" sz="9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" sz="9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1"/>
          <p:cNvSpPr txBox="1"/>
          <p:nvPr>
            <p:ph type="title"/>
          </p:nvPr>
        </p:nvSpPr>
        <p:spPr>
          <a:xfrm>
            <a:off x="383309" y="244654"/>
            <a:ext cx="7886700" cy="40243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" u="sng"/>
              <a:t>SOP1 scenario (If applicable)</a:t>
            </a:r>
            <a:endParaRPr/>
          </a:p>
        </p:txBody>
      </p:sp>
      <p:sp>
        <p:nvSpPr>
          <p:cNvPr id="183" name="Google Shape;183;p31"/>
          <p:cNvSpPr/>
          <p:nvPr/>
        </p:nvSpPr>
        <p:spPr>
          <a:xfrm>
            <a:off x="1608248" y="979776"/>
            <a:ext cx="6815400" cy="3777900"/>
          </a:xfrm>
          <a:prstGeom prst="rect">
            <a:avLst/>
          </a:prstGeom>
          <a:noFill/>
          <a:ln cap="flat" cmpd="sng" w="12700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20.png" id="184" name="Google Shape;184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97849" y="1536108"/>
            <a:ext cx="3013050" cy="17777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31"/>
          <p:cNvSpPr txBox="1"/>
          <p:nvPr/>
        </p:nvSpPr>
        <p:spPr>
          <a:xfrm>
            <a:off x="1783075" y="3667725"/>
            <a:ext cx="49722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EN: New user clicks "Sign in with UAE PASS" on registration page → UAE PASS verifies identity → MySilah auto-creates Agent account using verified data → User lands on Agent Dashboard.</a:t>
            </a:r>
            <a:endParaRPr sz="1500"/>
          </a:p>
        </p:txBody>
      </p:sp>
      <p:pic>
        <p:nvPicPr>
          <p:cNvPr id="186" name="Google Shape;186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15500" y="1339950"/>
            <a:ext cx="2186552" cy="216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2"/>
          <p:cNvSpPr txBox="1"/>
          <p:nvPr>
            <p:ph type="title"/>
          </p:nvPr>
        </p:nvSpPr>
        <p:spPr>
          <a:xfrm>
            <a:off x="383309" y="277838"/>
            <a:ext cx="7886700" cy="40243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" u="sng"/>
              <a:t>SOP2 scenario (If applicable)</a:t>
            </a:r>
            <a:endParaRPr/>
          </a:p>
        </p:txBody>
      </p:sp>
      <p:sp>
        <p:nvSpPr>
          <p:cNvPr id="192" name="Google Shape;192;p32"/>
          <p:cNvSpPr/>
          <p:nvPr/>
        </p:nvSpPr>
        <p:spPr>
          <a:xfrm>
            <a:off x="267750" y="928375"/>
            <a:ext cx="7832400" cy="3846900"/>
          </a:xfrm>
          <a:prstGeom prst="rect">
            <a:avLst/>
          </a:prstGeom>
          <a:noFill/>
          <a:ln cap="flat" cmpd="sng" w="12700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20.png" id="193" name="Google Shape;193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81775" y="1331825"/>
            <a:ext cx="3107525" cy="1833449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2"/>
          <p:cNvSpPr txBox="1"/>
          <p:nvPr/>
        </p:nvSpPr>
        <p:spPr>
          <a:xfrm>
            <a:off x="1789393" y="4031280"/>
            <a:ext cx="49722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EN: Existing MySilah user clicks “Sign in with UAE PASS” on login page → UAE PASS authenticates at SOP2 or SOP3 level → System recognises linked account by UAE PASS UUID → User logged in directly to Agent Dashboard. MySilah accepts both SOP2 (verified residents) and SOP3 (UAE nationals with verified Emirates ID).</a:t>
            </a:r>
            <a:endParaRPr sz="1100"/>
          </a:p>
        </p:txBody>
      </p:sp>
      <p:pic>
        <p:nvPicPr>
          <p:cNvPr id="195" name="Google Shape;195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2600" y="1383925"/>
            <a:ext cx="3625252" cy="1748901"/>
          </a:xfrm>
          <a:prstGeom prst="rect">
            <a:avLst/>
          </a:prstGeom>
          <a:noFill/>
          <a:ln cap="flat" cmpd="sng" w="12700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3"/>
          <p:cNvSpPr txBox="1"/>
          <p:nvPr>
            <p:ph type="title"/>
          </p:nvPr>
        </p:nvSpPr>
        <p:spPr>
          <a:xfrm>
            <a:off x="383309" y="233593"/>
            <a:ext cx="7886700" cy="40243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" u="sng"/>
              <a:t>SOP3 scenario</a:t>
            </a:r>
            <a:endParaRPr/>
          </a:p>
        </p:txBody>
      </p:sp>
      <p:pic>
        <p:nvPicPr>
          <p:cNvPr descr="20.png" id="201" name="Google Shape;201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83080" y="936657"/>
            <a:ext cx="4972050" cy="293351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33"/>
          <p:cNvSpPr txBox="1"/>
          <p:nvPr/>
        </p:nvSpPr>
        <p:spPr>
          <a:xfrm>
            <a:off x="1783075" y="4038919"/>
            <a:ext cx="49722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EN: MySilah supports SOP3 authentication (UAE nationals with verified Emirates ID). Upon SOP3 authentication, additional verified attributes are received including the user’s title (titleEN/titleAR), which is displayed alongside their name on the Agent Dashboard. SOP3 users have full access to all MySilah Agent services at the highest verification level.</a:t>
            </a:r>
            <a:endParaRPr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4"/>
          <p:cNvSpPr txBox="1"/>
          <p:nvPr>
            <p:ph type="title"/>
          </p:nvPr>
        </p:nvSpPr>
        <p:spPr>
          <a:xfrm>
            <a:off x="326159" y="152761"/>
            <a:ext cx="7886700" cy="40243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" u="sng"/>
              <a:t>Manual linking page </a:t>
            </a:r>
            <a:r>
              <a:rPr lang="en" sz="1500">
                <a:solidFill>
                  <a:srgbClr val="7F7F7F"/>
                </a:solidFill>
              </a:rPr>
              <a:t>(if applicable)</a:t>
            </a:r>
            <a:endParaRPr>
              <a:solidFill>
                <a:srgbClr val="757070"/>
              </a:solidFill>
            </a:endParaRPr>
          </a:p>
        </p:txBody>
      </p:sp>
      <p:sp>
        <p:nvSpPr>
          <p:cNvPr id="208" name="Google Shape;208;p34"/>
          <p:cNvSpPr/>
          <p:nvPr/>
        </p:nvSpPr>
        <p:spPr>
          <a:xfrm>
            <a:off x="326159" y="977931"/>
            <a:ext cx="4977313" cy="3565006"/>
          </a:xfrm>
          <a:prstGeom prst="rect">
            <a:avLst/>
          </a:prstGeom>
          <a:noFill/>
          <a:ln cap="flat" cmpd="sng" w="12700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9" name="Google Shape;209;p34"/>
          <p:cNvPicPr preferRelativeResize="0"/>
          <p:nvPr/>
        </p:nvPicPr>
        <p:blipFill rotWithShape="1">
          <a:blip r:embed="rId3">
            <a:alphaModFix/>
          </a:blip>
          <a:srcRect b="50080" l="0" r="0" t="0"/>
          <a:stretch/>
        </p:blipFill>
        <p:spPr>
          <a:xfrm>
            <a:off x="5724234" y="1348859"/>
            <a:ext cx="3096649" cy="2817877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34"/>
          <p:cNvSpPr txBox="1"/>
          <p:nvPr/>
        </p:nvSpPr>
        <p:spPr>
          <a:xfrm>
            <a:off x="322326" y="1920240"/>
            <a:ext cx="4972200" cy="6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Not Applicable</a:t>
            </a:r>
            <a:br>
              <a:rPr b="0" i="0" lang="en" sz="8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" sz="8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MySilah automatically links user accounts via UAE PASS UUID on first authentication. No manual linking step is presented</a:t>
            </a:r>
            <a:endParaRPr sz="800">
              <a:solidFill>
                <a:srgbClr val="14142E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5"/>
          <p:cNvSpPr txBox="1"/>
          <p:nvPr>
            <p:ph type="title"/>
          </p:nvPr>
        </p:nvSpPr>
        <p:spPr>
          <a:xfrm>
            <a:off x="326159" y="180072"/>
            <a:ext cx="7886700" cy="40243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" u="sng"/>
              <a:t>Manual linking (NO) scenario </a:t>
            </a:r>
            <a:r>
              <a:rPr lang="en" sz="1500">
                <a:solidFill>
                  <a:srgbClr val="7F7F7F"/>
                </a:solidFill>
              </a:rPr>
              <a:t>(if applicable)</a:t>
            </a:r>
            <a:endParaRPr>
              <a:solidFill>
                <a:srgbClr val="757070"/>
              </a:solidFill>
            </a:endParaRPr>
          </a:p>
        </p:txBody>
      </p:sp>
      <p:sp>
        <p:nvSpPr>
          <p:cNvPr id="216" name="Google Shape;216;p35"/>
          <p:cNvSpPr/>
          <p:nvPr/>
        </p:nvSpPr>
        <p:spPr>
          <a:xfrm>
            <a:off x="326159" y="977931"/>
            <a:ext cx="4977313" cy="3565006"/>
          </a:xfrm>
          <a:prstGeom prst="rect">
            <a:avLst/>
          </a:prstGeom>
          <a:noFill/>
          <a:ln cap="flat" cmpd="sng" w="12700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7" name="Google Shape;217;p35"/>
          <p:cNvGrpSpPr/>
          <p:nvPr/>
        </p:nvGrpSpPr>
        <p:grpSpPr>
          <a:xfrm>
            <a:off x="6083969" y="211336"/>
            <a:ext cx="2247232" cy="2044928"/>
            <a:chOff x="8111958" y="281781"/>
            <a:chExt cx="2996309" cy="2726571"/>
          </a:xfrm>
        </p:grpSpPr>
        <p:pic>
          <p:nvPicPr>
            <p:cNvPr id="218" name="Google Shape;218;p35"/>
            <p:cNvPicPr preferRelativeResize="0"/>
            <p:nvPr/>
          </p:nvPicPr>
          <p:blipFill rotWithShape="1">
            <a:blip r:embed="rId3">
              <a:alphaModFix/>
            </a:blip>
            <a:srcRect b="50080" l="0" r="0" t="0"/>
            <a:stretch/>
          </p:blipFill>
          <p:spPr>
            <a:xfrm>
              <a:off x="8111958" y="281781"/>
              <a:ext cx="2996309" cy="272657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19" name="Google Shape;219;p35"/>
            <p:cNvSpPr/>
            <p:nvPr/>
          </p:nvSpPr>
          <p:spPr>
            <a:xfrm>
              <a:off x="9576245" y="1608667"/>
              <a:ext cx="786955" cy="338668"/>
            </a:xfrm>
            <a:prstGeom prst="ellipse">
              <a:avLst/>
            </a:prstGeom>
            <a:noFill/>
            <a:ln cap="flat" cmpd="sng" w="12700">
              <a:solidFill>
                <a:srgbClr val="C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20" name="Google Shape;220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7329" y="1732423"/>
            <a:ext cx="2728143" cy="2995153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35"/>
          <p:cNvSpPr txBox="1"/>
          <p:nvPr/>
        </p:nvSpPr>
        <p:spPr>
          <a:xfrm>
            <a:off x="322326" y="1920240"/>
            <a:ext cx="49722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Not Applicable</a:t>
            </a:r>
            <a:br>
              <a:rPr b="0" i="0" lang="en" sz="8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" sz="8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MySilah automatically links user accounts via UAE PASS UUID on first authentication. No manual linking step is presented.</a:t>
            </a:r>
            <a:endParaRPr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6"/>
          <p:cNvSpPr txBox="1"/>
          <p:nvPr>
            <p:ph type="title"/>
          </p:nvPr>
        </p:nvSpPr>
        <p:spPr>
          <a:xfrm>
            <a:off x="326159" y="296558"/>
            <a:ext cx="7886700" cy="40243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" u="sng"/>
              <a:t>Manual linking (YES) scenario </a:t>
            </a:r>
            <a:r>
              <a:rPr lang="en" sz="1500">
                <a:solidFill>
                  <a:srgbClr val="7F7F7F"/>
                </a:solidFill>
              </a:rPr>
              <a:t>(if applicable)</a:t>
            </a:r>
            <a:endParaRPr>
              <a:solidFill>
                <a:srgbClr val="757070"/>
              </a:solidFill>
            </a:endParaRPr>
          </a:p>
        </p:txBody>
      </p:sp>
      <p:sp>
        <p:nvSpPr>
          <p:cNvPr id="227" name="Google Shape;227;p36"/>
          <p:cNvSpPr/>
          <p:nvPr/>
        </p:nvSpPr>
        <p:spPr>
          <a:xfrm>
            <a:off x="326159" y="977931"/>
            <a:ext cx="4977313" cy="3565006"/>
          </a:xfrm>
          <a:prstGeom prst="rect">
            <a:avLst/>
          </a:prstGeom>
          <a:noFill/>
          <a:ln cap="flat" cmpd="sng" w="12700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28" name="Google Shape;228;p36"/>
          <p:cNvGrpSpPr/>
          <p:nvPr/>
        </p:nvGrpSpPr>
        <p:grpSpPr>
          <a:xfrm>
            <a:off x="5965627" y="353976"/>
            <a:ext cx="2247232" cy="2044928"/>
            <a:chOff x="7954170" y="471968"/>
            <a:chExt cx="2996309" cy="2726571"/>
          </a:xfrm>
        </p:grpSpPr>
        <p:pic>
          <p:nvPicPr>
            <p:cNvPr id="229" name="Google Shape;229;p36"/>
            <p:cNvPicPr preferRelativeResize="0"/>
            <p:nvPr/>
          </p:nvPicPr>
          <p:blipFill rotWithShape="1">
            <a:blip r:embed="rId3">
              <a:alphaModFix/>
            </a:blip>
            <a:srcRect b="50080" l="0" r="0" t="0"/>
            <a:stretch/>
          </p:blipFill>
          <p:spPr>
            <a:xfrm>
              <a:off x="7954170" y="471968"/>
              <a:ext cx="2996309" cy="272657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0" name="Google Shape;230;p36"/>
            <p:cNvSpPr/>
            <p:nvPr/>
          </p:nvSpPr>
          <p:spPr>
            <a:xfrm>
              <a:off x="8693371" y="1795585"/>
              <a:ext cx="786955" cy="338668"/>
            </a:xfrm>
            <a:prstGeom prst="ellipse">
              <a:avLst/>
            </a:prstGeom>
            <a:noFill/>
            <a:ln cap="flat" cmpd="sng" w="12700">
              <a:solidFill>
                <a:srgbClr val="C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31" name="Google Shape;231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81413" y="1929533"/>
            <a:ext cx="3129566" cy="2778288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36"/>
          <p:cNvSpPr txBox="1"/>
          <p:nvPr/>
        </p:nvSpPr>
        <p:spPr>
          <a:xfrm>
            <a:off x="322326" y="1920240"/>
            <a:ext cx="49722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" sz="80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Not Applicable</a:t>
            </a:r>
            <a:br>
              <a:rPr lang="en" sz="80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MySilah automatically links user accounts via UAE PASS UUID on first authentication. No manual linking step is presented.</a:t>
            </a:r>
            <a:endParaRPr sz="1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7"/>
          <p:cNvSpPr txBox="1"/>
          <p:nvPr>
            <p:ph type="title"/>
          </p:nvPr>
        </p:nvSpPr>
        <p:spPr>
          <a:xfrm>
            <a:off x="326159" y="266776"/>
            <a:ext cx="7886700" cy="40243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" u="sng"/>
              <a:t>Only registration/Sign up Scenario (If applicable)</a:t>
            </a:r>
            <a:endParaRPr u="sng"/>
          </a:p>
        </p:txBody>
      </p:sp>
      <p:sp>
        <p:nvSpPr>
          <p:cNvPr id="238" name="Google Shape;238;p37"/>
          <p:cNvSpPr/>
          <p:nvPr/>
        </p:nvSpPr>
        <p:spPr>
          <a:xfrm>
            <a:off x="1729605" y="1029891"/>
            <a:ext cx="4977313" cy="3565006"/>
          </a:xfrm>
          <a:prstGeom prst="rect">
            <a:avLst/>
          </a:prstGeom>
          <a:noFill/>
          <a:ln cap="flat" cmpd="sng" w="12700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37"/>
          <p:cNvSpPr txBox="1"/>
          <p:nvPr/>
        </p:nvSpPr>
        <p:spPr>
          <a:xfrm>
            <a:off x="1728225" y="3929089"/>
            <a:ext cx="49722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EN: Users without a MySilah account register via app.mysilah.ae/register using UAE PASS. Verified identity data auto-populates the registration. No prior MySilah account required.</a:t>
            </a:r>
            <a:endParaRPr sz="1100"/>
          </a:p>
        </p:txBody>
      </p:sp>
      <p:pic>
        <p:nvPicPr>
          <p:cNvPr id="240" name="Google Shape;240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74525" y="1533450"/>
            <a:ext cx="2186552" cy="216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8"/>
          <p:cNvSpPr txBox="1"/>
          <p:nvPr>
            <p:ph type="title"/>
          </p:nvPr>
        </p:nvSpPr>
        <p:spPr>
          <a:xfrm>
            <a:off x="326159" y="373987"/>
            <a:ext cx="7886700" cy="40243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n" u="sng"/>
              <a:t>Error Handling</a:t>
            </a:r>
            <a:br>
              <a:rPr lang="en" u="sng"/>
            </a:br>
            <a:r>
              <a:rPr lang="en" u="sng"/>
              <a:t>O</a:t>
            </a:r>
            <a:r>
              <a:rPr lang="en"/>
              <a:t>nly existing users error message</a:t>
            </a:r>
            <a:endParaRPr/>
          </a:p>
        </p:txBody>
      </p:sp>
      <p:sp>
        <p:nvSpPr>
          <p:cNvPr id="246" name="Google Shape;246;p38"/>
          <p:cNvSpPr/>
          <p:nvPr/>
        </p:nvSpPr>
        <p:spPr>
          <a:xfrm>
            <a:off x="326159" y="977931"/>
            <a:ext cx="4977313" cy="3565006"/>
          </a:xfrm>
          <a:prstGeom prst="rect">
            <a:avLst/>
          </a:prstGeom>
          <a:noFill/>
          <a:ln cap="flat" cmpd="sng" w="12700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38"/>
          <p:cNvSpPr/>
          <p:nvPr/>
        </p:nvSpPr>
        <p:spPr>
          <a:xfrm>
            <a:off x="6153516" y="1508737"/>
            <a:ext cx="2013439" cy="1107996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Service is only for registered users, please contact MySilah in order to access the services </a:t>
            </a:r>
            <a:endParaRPr sz="1100"/>
          </a:p>
        </p:txBody>
      </p:sp>
      <p:sp>
        <p:nvSpPr>
          <p:cNvPr id="248" name="Google Shape;248;p38"/>
          <p:cNvSpPr txBox="1"/>
          <p:nvPr/>
        </p:nvSpPr>
        <p:spPr>
          <a:xfrm>
            <a:off x="322326" y="1920240"/>
            <a:ext cx="4972200" cy="3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" sz="80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Not Applicable</a:t>
            </a:r>
            <a:br>
              <a:rPr lang="en" sz="80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MySilah allows new user registration via UAE PASS. Access is not restricted to pre-existing users only.</a:t>
            </a:r>
            <a:endParaRPr sz="1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26159" y="329742"/>
            <a:ext cx="7886700" cy="40243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n" u="sng"/>
              <a:t>Error Handling</a:t>
            </a:r>
            <a:br>
              <a:rPr lang="en" u="sng"/>
            </a:br>
            <a:r>
              <a:rPr lang="en"/>
              <a:t>Unverified user restriction </a:t>
            </a:r>
            <a:endParaRPr/>
          </a:p>
        </p:txBody>
      </p:sp>
      <p:sp>
        <p:nvSpPr>
          <p:cNvPr id="254" name="Google Shape;254;p39"/>
          <p:cNvSpPr/>
          <p:nvPr/>
        </p:nvSpPr>
        <p:spPr>
          <a:xfrm>
            <a:off x="6047351" y="1172891"/>
            <a:ext cx="1978269" cy="1731243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You are not eligible to access this service. Your account is either not upgraded or you have a visitor account. Please contact MySilah to access the services.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39"/>
          <p:cNvSpPr txBox="1"/>
          <p:nvPr/>
        </p:nvSpPr>
        <p:spPr>
          <a:xfrm>
            <a:off x="322326" y="4354830"/>
            <a:ext cx="4972050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60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EN: If user authenticates with a Basic (unverified) UAE PASS account, MySilah restricts access and displays: "Your UAE PASS account is not fully verified. Please upgrade your account to access MySilah services."</a:t>
            </a:r>
            <a:endParaRPr sz="1100"/>
          </a:p>
        </p:txBody>
      </p:sp>
      <p:pic>
        <p:nvPicPr>
          <p:cNvPr id="256" name="Google Shape;256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0950" y="844563"/>
            <a:ext cx="2986998" cy="33978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40"/>
          <p:cNvSpPr txBox="1"/>
          <p:nvPr>
            <p:ph type="title"/>
          </p:nvPr>
        </p:nvSpPr>
        <p:spPr>
          <a:xfrm>
            <a:off x="326159" y="351863"/>
            <a:ext cx="7886700" cy="40243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n" u="sng"/>
              <a:t>Error Handling</a:t>
            </a:r>
            <a:br>
              <a:rPr lang="en" u="sng"/>
            </a:br>
            <a:r>
              <a:rPr lang="en"/>
              <a:t>Something went wrong during the login</a:t>
            </a:r>
            <a:endParaRPr/>
          </a:p>
        </p:txBody>
      </p:sp>
      <p:sp>
        <p:nvSpPr>
          <p:cNvPr id="262" name="Google Shape;262;p40"/>
          <p:cNvSpPr/>
          <p:nvPr/>
        </p:nvSpPr>
        <p:spPr>
          <a:xfrm>
            <a:off x="5794130" y="1636982"/>
            <a:ext cx="2646486" cy="484748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Something went wrong during the login, please try again later!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16.png" id="263" name="Google Shape;263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2326" y="1212666"/>
            <a:ext cx="4972050" cy="2814180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40"/>
          <p:cNvSpPr txBox="1"/>
          <p:nvPr/>
        </p:nvSpPr>
        <p:spPr>
          <a:xfrm>
            <a:off x="322325" y="4071083"/>
            <a:ext cx="49722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60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EN: UAE PASS displays an error for invalid credentials. If the OAuth callback fails, user is redirected to app.mysilah.ae/login with: "Something went wrong during the login, please try again later!"</a:t>
            </a:r>
            <a:endParaRPr sz="11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41"/>
          <p:cNvSpPr txBox="1"/>
          <p:nvPr>
            <p:ph type="title"/>
          </p:nvPr>
        </p:nvSpPr>
        <p:spPr>
          <a:xfrm>
            <a:off x="326159" y="307618"/>
            <a:ext cx="7886700" cy="40243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lang="en" u="sng"/>
              <a:t>Error Handling</a:t>
            </a:r>
            <a:br>
              <a:rPr lang="en" u="sng"/>
            </a:br>
            <a:r>
              <a:rPr lang="en"/>
              <a:t>User cancel scenario </a:t>
            </a:r>
            <a:endParaRPr/>
          </a:p>
        </p:txBody>
      </p:sp>
      <p:sp>
        <p:nvSpPr>
          <p:cNvPr id="270" name="Google Shape;270;p41"/>
          <p:cNvSpPr/>
          <p:nvPr/>
        </p:nvSpPr>
        <p:spPr>
          <a:xfrm>
            <a:off x="5614103" y="1734275"/>
            <a:ext cx="2598600" cy="2769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User cancelled the login.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15.png" id="271" name="Google Shape;271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2138" y="970799"/>
            <a:ext cx="1514076" cy="3291839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41"/>
          <p:cNvSpPr txBox="1"/>
          <p:nvPr/>
        </p:nvSpPr>
        <p:spPr>
          <a:xfrm>
            <a:off x="322326" y="4354830"/>
            <a:ext cx="4972050" cy="30861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60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EN: User taps "Decline" on the UAE PASS Login Request Alert (or clicks "Cancel Request" on the browser polling page). Authentication is cancelled and user is redirected to app.mysilah.ae/login.</a:t>
            </a:r>
            <a:endParaRPr sz="1100"/>
          </a:p>
        </p:txBody>
      </p:sp>
      <p:pic>
        <p:nvPicPr>
          <p:cNvPr id="273" name="Google Shape;273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28614" y="862450"/>
            <a:ext cx="2936096" cy="33399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2"/>
          <p:cNvSpPr txBox="1"/>
          <p:nvPr>
            <p:ph type="title"/>
          </p:nvPr>
        </p:nvSpPr>
        <p:spPr>
          <a:xfrm>
            <a:off x="326159" y="362926"/>
            <a:ext cx="7886700" cy="40243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" u="sng"/>
              <a:t>Logout scenario </a:t>
            </a:r>
            <a:endParaRPr/>
          </a:p>
        </p:txBody>
      </p:sp>
      <p:pic>
        <p:nvPicPr>
          <p:cNvPr descr="20.png" id="279" name="Google Shape;279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6150" y="1222262"/>
            <a:ext cx="3493790" cy="2061336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2"/>
          <p:cNvSpPr txBox="1"/>
          <p:nvPr/>
        </p:nvSpPr>
        <p:spPr>
          <a:xfrm>
            <a:off x="1776225" y="3740497"/>
            <a:ext cx="49722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60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EN: User clicks their name/avatar in the top-right of the MySilah Agent Dashboard and selects "Logout". Session is terminated and user is redirected to app.mysilah.ae/login.</a:t>
            </a:r>
            <a:endParaRPr sz="1100"/>
          </a:p>
        </p:txBody>
      </p:sp>
      <p:pic>
        <p:nvPicPr>
          <p:cNvPr id="281" name="Google Shape;281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00900" y="1222238"/>
            <a:ext cx="4040812" cy="1949376"/>
          </a:xfrm>
          <a:prstGeom prst="rect">
            <a:avLst/>
          </a:prstGeom>
          <a:noFill/>
          <a:ln cap="flat" cmpd="sng" w="12700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43"/>
          <p:cNvSpPr txBox="1"/>
          <p:nvPr>
            <p:ph type="title"/>
          </p:nvPr>
        </p:nvSpPr>
        <p:spPr>
          <a:xfrm>
            <a:off x="326159" y="318680"/>
            <a:ext cx="7886700" cy="402431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n" u="sng"/>
              <a:t>APP to WEB scenario </a:t>
            </a:r>
            <a:r>
              <a:rPr lang="en" sz="1400">
                <a:solidFill>
                  <a:srgbClr val="7F7F7F"/>
                </a:solidFill>
              </a:rPr>
              <a:t>(if mobile integration) </a:t>
            </a:r>
            <a:endParaRPr/>
          </a:p>
        </p:txBody>
      </p:sp>
      <p:sp>
        <p:nvSpPr>
          <p:cNvPr id="288" name="Google Shape;288;p43"/>
          <p:cNvSpPr/>
          <p:nvPr/>
        </p:nvSpPr>
        <p:spPr>
          <a:xfrm>
            <a:off x="410758" y="1010108"/>
            <a:ext cx="4977313" cy="3565006"/>
          </a:xfrm>
          <a:prstGeom prst="rect">
            <a:avLst/>
          </a:prstGeom>
          <a:noFill/>
          <a:ln cap="flat" cmpd="sng" w="12700">
            <a:solidFill>
              <a:srgbClr val="BFBFBF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9" name="Google Shape;289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0260" y="229781"/>
            <a:ext cx="1325880" cy="2946400"/>
          </a:xfrm>
          <a:prstGeom prst="rect">
            <a:avLst/>
          </a:prstGeom>
          <a:noFill/>
          <a:ln cap="flat" cmpd="sng" w="952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descr="A screenshot of a cell phone&#10;&#10;Description automatically generated" id="290" name="Google Shape;290;p4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19422" y="1270675"/>
            <a:ext cx="1322979" cy="293995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p4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186800" y="2342950"/>
            <a:ext cx="1276333" cy="2654300"/>
          </a:xfrm>
          <a:prstGeom prst="rect">
            <a:avLst/>
          </a:prstGeom>
          <a:noFill/>
          <a:ln cap="flat" cmpd="sng" w="9525">
            <a:solidFill>
              <a:srgbClr val="D8D8D8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92" name="Google Shape;292;p43"/>
          <p:cNvSpPr txBox="1"/>
          <p:nvPr/>
        </p:nvSpPr>
        <p:spPr>
          <a:xfrm>
            <a:off x="404622" y="1920240"/>
            <a:ext cx="49722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" sz="90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Not Applicable</a:t>
            </a:r>
            <a:br>
              <a:rPr lang="en" sz="90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>
                <a:solidFill>
                  <a:srgbClr val="14142E"/>
                </a:solidFill>
                <a:latin typeface="Calibri"/>
                <a:ea typeface="Calibri"/>
                <a:cs typeface="Calibri"/>
                <a:sym typeface="Calibri"/>
              </a:rPr>
              <a:t>MySilah is a web-only platform. No native mobile application exists.</a:t>
            </a:r>
            <a:endParaRPr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