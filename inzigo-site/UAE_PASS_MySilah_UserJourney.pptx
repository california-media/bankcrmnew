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6858000" cx="12192000"/>
  <p:notesSz cx="6858000" cy="9144000"/>
  <p:embeddedFontLst>
    <p:embeddedFont>
      <p:font typeface="Robot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font" Target="fonts/Roboto-regular.fntdata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Roboto-italic.fntdata"/><Relationship Id="rId25" Type="http://schemas.openxmlformats.org/officeDocument/2006/relationships/font" Target="fonts/Roboto-bold.fntdata"/><Relationship Id="rId27" Type="http://schemas.openxmlformats.org/officeDocument/2006/relationships/font" Target="fonts/Roboto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838200" y="149225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b="1"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2.png"/><Relationship Id="rId6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3.png"/><Relationship Id="rId4" Type="http://schemas.openxmlformats.org/officeDocument/2006/relationships/image" Target="../media/image15.png"/><Relationship Id="rId5" Type="http://schemas.openxmlformats.org/officeDocument/2006/relationships/image" Target="../media/image24.png"/><Relationship Id="rId6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4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jpg"/><Relationship Id="rId4" Type="http://schemas.openxmlformats.org/officeDocument/2006/relationships/image" Target="../media/image20.jpg"/><Relationship Id="rId5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3080084" y="2733576"/>
            <a:ext cx="5688529" cy="10392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MySilah — Inizio Global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User Journey Template for Integrating with UAE PASS Authentication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rebuchet MS"/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version 1.1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t/>
            </a:r>
            <a:endParaRPr b="1" i="0" sz="28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838200" y="650670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 sz="3600" u="sng"/>
              <a:t>Instructions</a:t>
            </a:r>
            <a:endParaRPr/>
          </a:p>
        </p:txBody>
      </p:sp>
      <p:sp>
        <p:nvSpPr>
          <p:cNvPr id="94" name="Google Shape;94;p14"/>
          <p:cNvSpPr txBox="1"/>
          <p:nvPr>
            <p:ph idx="1" type="body"/>
          </p:nvPr>
        </p:nvSpPr>
        <p:spPr>
          <a:xfrm>
            <a:off x="838200" y="1776046"/>
            <a:ext cx="10515600" cy="42691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This template document will guide you through creating your new user journey with UAE PASS.</a:t>
            </a:r>
            <a:endParaRPr/>
          </a:p>
          <a:p>
            <a:pPr indent="-762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4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Please use this template to show how you are integrating UAE PASS within your digital channel. </a:t>
            </a:r>
            <a:endParaRPr/>
          </a:p>
          <a:p>
            <a:pPr indent="-762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4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Please add English and Arabic version of each scenario  </a:t>
            </a:r>
            <a:endParaRPr/>
          </a:p>
          <a:p>
            <a:pPr indent="-762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4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Do submit your user journey in </a:t>
            </a:r>
            <a:r>
              <a:rPr b="1" lang="en-US" sz="2400"/>
              <a:t>PDF format</a:t>
            </a:r>
            <a:r>
              <a:rPr lang="en-US" sz="2400"/>
              <a:t>. Submissions that are not in this format will not be processed. </a:t>
            </a:r>
            <a:endParaRPr/>
          </a:p>
          <a:p>
            <a:pPr indent="-762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400"/>
          </a:p>
          <a:p>
            <a:pPr indent="-762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400"/>
          </a:p>
          <a:p>
            <a:pPr indent="0" lvl="1" marL="457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sz="2000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>
            <p:ph type="title"/>
          </p:nvPr>
        </p:nvSpPr>
        <p:spPr>
          <a:xfrm>
            <a:off x="734677" y="393827"/>
            <a:ext cx="10515600" cy="7277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Sign-in with UAE PASS </a:t>
            </a:r>
            <a:endParaRPr/>
          </a:p>
        </p:txBody>
      </p:sp>
      <p:sp>
        <p:nvSpPr>
          <p:cNvPr id="100" name="Google Shape;100;p15"/>
          <p:cNvSpPr/>
          <p:nvPr/>
        </p:nvSpPr>
        <p:spPr>
          <a:xfrm>
            <a:off x="734677" y="1420727"/>
            <a:ext cx="6636417" cy="4753341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" name="Google Shape;101;p15"/>
          <p:cNvPicPr preferRelativeResize="0"/>
          <p:nvPr/>
        </p:nvPicPr>
        <p:blipFill rotWithShape="1">
          <a:blip r:embed="rId3">
            <a:alphaModFix/>
          </a:blip>
          <a:srcRect b="7727" l="0" r="0" t="0"/>
          <a:stretch/>
        </p:blipFill>
        <p:spPr>
          <a:xfrm>
            <a:off x="7737231" y="1093296"/>
            <a:ext cx="3788869" cy="2582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/>
          <p:cNvPicPr preferRelativeResize="0"/>
          <p:nvPr/>
        </p:nvPicPr>
        <p:blipFill rotWithShape="1">
          <a:blip r:embed="rId4">
            <a:alphaModFix/>
          </a:blip>
          <a:srcRect b="8876" l="0" r="0" t="0"/>
          <a:stretch/>
        </p:blipFill>
        <p:spPr>
          <a:xfrm>
            <a:off x="8065410" y="3749405"/>
            <a:ext cx="1547240" cy="28360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41876" y="3797398"/>
            <a:ext cx="1456581" cy="27177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11.png" id="104" name="Google Shape;104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42775" y="1417325"/>
            <a:ext cx="5565947" cy="3200401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5"/>
          <p:cNvSpPr txBox="1"/>
          <p:nvPr/>
        </p:nvSpPr>
        <p:spPr>
          <a:xfrm>
            <a:off x="731525" y="4791373"/>
            <a:ext cx="6629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 visits app.mysilah.ae/login. Clicks "Sign in with UAE PASS" button to initiate UAE PASS OIDC authentication flow.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731520" y="5102352"/>
            <a:ext cx="6629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يزور المستخدم صفحة تسجيل الدخول ويضغط على زر "تسجيل الدخول عبر UAE PASS" لبدء عملية المصادقة عبر UAE PASS.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>
            <p:ph type="title"/>
          </p:nvPr>
        </p:nvSpPr>
        <p:spPr>
          <a:xfrm>
            <a:off x="690715" y="369638"/>
            <a:ext cx="10515600" cy="7277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Sign up with UAE PASS (Authentication) If applicable </a:t>
            </a:r>
            <a:endParaRPr/>
          </a:p>
        </p:txBody>
      </p:sp>
      <p:sp>
        <p:nvSpPr>
          <p:cNvPr id="112" name="Google Shape;112;p16"/>
          <p:cNvSpPr/>
          <p:nvPr/>
        </p:nvSpPr>
        <p:spPr>
          <a:xfrm>
            <a:off x="690715" y="1517443"/>
            <a:ext cx="6636417" cy="4753341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58786" y="2096224"/>
            <a:ext cx="2569092" cy="16806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58786" y="3842238"/>
            <a:ext cx="2639429" cy="17848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490704" y="2096224"/>
            <a:ext cx="1968082" cy="36763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12.png" id="116" name="Google Shape;116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171925" y="1433450"/>
            <a:ext cx="2948549" cy="3006199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685800" y="4663440"/>
            <a:ext cx="6629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New user visits app.mysilah.ae/register. Clicks "Sign in with UAE PASS" for instant verification via Emirates ID. MySilah auto-creates the Agent account upon successful verification.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685800" y="5148072"/>
            <a:ext cx="6629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يزور المستخدم الجديد صفحة التسجيل ويضغط "تسجيل الدخول عبر UAE PASS" للتحقق الفوري عبر الهوية الإماراتية. تُنشئ MySilah حساب الوكيل تلقائياً عند نجاح التحقق.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442748" y="360639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 Redirection to UAE PASS Login page (WEB)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199" y="897224"/>
            <a:ext cx="4536499" cy="3375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05700" y="1043825"/>
            <a:ext cx="4722300" cy="2918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6" name="Google Shape;126;p17"/>
          <p:cNvGrpSpPr/>
          <p:nvPr/>
        </p:nvGrpSpPr>
        <p:grpSpPr>
          <a:xfrm>
            <a:off x="10226403" y="791912"/>
            <a:ext cx="1680616" cy="4166303"/>
            <a:chOff x="8642837" y="1138807"/>
            <a:chExt cx="2066670" cy="4753341"/>
          </a:xfrm>
        </p:grpSpPr>
        <p:pic>
          <p:nvPicPr>
            <p:cNvPr descr="A screenshot of a phone&#10;&#10;Description automatically generated" id="127" name="Google Shape;127;p1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8642837" y="1138807"/>
              <a:ext cx="2066670" cy="47533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8" name="Google Shape;128;p17"/>
            <p:cNvSpPr/>
            <p:nvPr/>
          </p:nvSpPr>
          <p:spPr>
            <a:xfrm>
              <a:off x="8968154" y="2312377"/>
              <a:ext cx="1582615" cy="4396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9" name="Google Shape;129;p17"/>
          <p:cNvSpPr txBox="1"/>
          <p:nvPr/>
        </p:nvSpPr>
        <p:spPr>
          <a:xfrm>
            <a:off x="274320" y="48006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C3C64"/>
                </a:solidFill>
                <a:latin typeface="Calibri"/>
                <a:ea typeface="Calibri"/>
                <a:cs typeface="Calibri"/>
                <a:sym typeface="Calibri"/>
              </a:rPr>
              <a:t>Step 1: Enter credentials (mobile / Emirates ID / email)   |   Step 2: Browser shows number code — wait for app   |   Step 3: Select matching number in UAE PASS app + confirm PIN/Face ID</a:t>
            </a:r>
            <a:endParaRPr/>
          </a:p>
        </p:txBody>
      </p:sp>
      <p:sp>
        <p:nvSpPr>
          <p:cNvPr id="130" name="Google Shape;130;p17"/>
          <p:cNvSpPr txBox="1"/>
          <p:nvPr/>
        </p:nvSpPr>
        <p:spPr>
          <a:xfrm>
            <a:off x="274320" y="5230368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 enters UAE PASS credentials on the web portal. Browser displays a polling page with a number code. User receives a push notification on UAE PASS mobile app, selects the matching number, and confirms with PIN or Face ID.</a:t>
            </a:r>
            <a:endParaRPr/>
          </a:p>
        </p:txBody>
      </p:sp>
      <p:sp>
        <p:nvSpPr>
          <p:cNvPr id="131" name="Google Shape;131;p17"/>
          <p:cNvSpPr txBox="1"/>
          <p:nvPr/>
        </p:nvSpPr>
        <p:spPr>
          <a:xfrm>
            <a:off x="274320" y="5650992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يدخل المستخدم بياناته على بوابة UAE PASS. يعرض المتصفح رمزاً رقمياً. يتلقى المستخدم إشعاراً على تطبيق UAE PASS، يختار الرقم المطابق ويؤكد بـ PIN أو Face ID.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/>
          <p:nvPr>
            <p:ph type="title"/>
          </p:nvPr>
        </p:nvSpPr>
        <p:spPr>
          <a:xfrm>
            <a:off x="442748" y="360639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 OR Redirection to UAE PASS Login page (App)</a:t>
            </a:r>
            <a:endParaRPr/>
          </a:p>
        </p:txBody>
      </p:sp>
      <p:pic>
        <p:nvPicPr>
          <p:cNvPr id="137" name="Google Shape;13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2745" y="1031424"/>
            <a:ext cx="2252417" cy="4886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38020" y="985699"/>
            <a:ext cx="2252417" cy="4886600"/>
          </a:xfrm>
          <a:prstGeom prst="rect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9" name="Google Shape;139;p18"/>
          <p:cNvSpPr txBox="1"/>
          <p:nvPr/>
        </p:nvSpPr>
        <p:spPr>
          <a:xfrm>
            <a:off x="7029125" y="2560325"/>
            <a:ext cx="4554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b="0" i="0" lang="en-US" sz="12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is a web-only platform. No native mobile application exists.</a:t>
            </a:r>
            <a:br>
              <a:rPr b="0" i="0" lang="en-US" sz="12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غير منطبق</a:t>
            </a:r>
            <a:br>
              <a:rPr b="0" i="0" lang="en-US" sz="12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منصة ويب فقط. لا يوجد تطبيق جوال.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/>
          <p:nvPr>
            <p:ph type="title"/>
          </p:nvPr>
        </p:nvSpPr>
        <p:spPr>
          <a:xfrm>
            <a:off x="511079" y="326205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SOP1 scenario (If applicable)</a:t>
            </a:r>
            <a:endParaRPr/>
          </a:p>
        </p:txBody>
      </p:sp>
      <p:pic>
        <p:nvPicPr>
          <p:cNvPr descr="12.png" id="145" name="Google Shape;14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9800" y="1480925"/>
            <a:ext cx="2874649" cy="3139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20.png" id="146" name="Google Shape;14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11328" y="1620272"/>
            <a:ext cx="4482325" cy="264460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9"/>
          <p:cNvSpPr txBox="1"/>
          <p:nvPr/>
        </p:nvSpPr>
        <p:spPr>
          <a:xfrm>
            <a:off x="2377440" y="5806440"/>
            <a:ext cx="6629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New user clicks "Sign in with UAE PASS" on registration page → UAE PASS verifies identity → MySilah auto-creates Agent account using verified data → User lands on Agent Dashboard.</a:t>
            </a:r>
            <a:endParaRPr/>
          </a:p>
        </p:txBody>
      </p:sp>
      <p:sp>
        <p:nvSpPr>
          <p:cNvPr id="148" name="Google Shape;148;p19"/>
          <p:cNvSpPr txBox="1"/>
          <p:nvPr/>
        </p:nvSpPr>
        <p:spPr>
          <a:xfrm>
            <a:off x="2377440" y="6245352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يضغط المستخدم الجديد على UAE PASS في التسجيل ← يتحقق UAE PASS من الهوية ← تُنشئ MySilah حساب الوكيل تلقائياً ← يصل المستخدم إلى لوحة التحكم.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 txBox="1"/>
          <p:nvPr>
            <p:ph type="title"/>
          </p:nvPr>
        </p:nvSpPr>
        <p:spPr>
          <a:xfrm>
            <a:off x="511079" y="370450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SOP2 scenario (If applicable)</a:t>
            </a:r>
            <a:endParaRPr/>
          </a:p>
        </p:txBody>
      </p:sp>
      <p:pic>
        <p:nvPicPr>
          <p:cNvPr descr="11.png" id="154" name="Google Shape;15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3175" y="1539875"/>
            <a:ext cx="4809626" cy="29449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20.png" id="155" name="Google Shape;15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72755" y="1593921"/>
            <a:ext cx="4991345" cy="2944926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0"/>
          <p:cNvSpPr txBox="1"/>
          <p:nvPr/>
        </p:nvSpPr>
        <p:spPr>
          <a:xfrm>
            <a:off x="2377450" y="5117647"/>
            <a:ext cx="6629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Existing MySilah user clicks "Sign in with UAE PASS" on login page → UAE PASS authenticates at SOP2 or SOP3 level → System recognises linked account by UAE PASS UUID → User logged in directly to Agent Dashboard. MySilah accepts both SOP2 (verified residents) and SOP3 (UAE nationals with verified Emirates ID).</a:t>
            </a:r>
            <a:endParaRPr/>
          </a:p>
        </p:txBody>
      </p:sp>
      <p:sp>
        <p:nvSpPr>
          <p:cNvPr id="157" name="Google Shape;157;p20"/>
          <p:cNvSpPr txBox="1"/>
          <p:nvPr/>
        </p:nvSpPr>
        <p:spPr>
          <a:xfrm>
            <a:off x="2377450" y="5607479"/>
            <a:ext cx="6629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يضغط المستخدم الحالي على UAE PASS في تسجيل الدخول ← يتم التحقق بمستوى SOP2 أو SOP3 ← يتعرف النظام على الحساب المرتبط ← تسجيل الدخول المباشر إلى لوحة التحكم. تدعم MySilah مستخدمي SOP2 (المقيمون الموثّقون) وSOP3 (المواطنون الإماراتيون).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/>
          <p:nvPr>
            <p:ph type="title"/>
          </p:nvPr>
        </p:nvSpPr>
        <p:spPr>
          <a:xfrm>
            <a:off x="511079" y="311457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SOP3 scenario</a:t>
            </a:r>
            <a:endParaRPr/>
          </a:p>
        </p:txBody>
      </p:sp>
      <p:sp>
        <p:nvSpPr>
          <p:cNvPr id="163" name="Google Shape;163;p21"/>
          <p:cNvSpPr/>
          <p:nvPr/>
        </p:nvSpPr>
        <p:spPr>
          <a:xfrm>
            <a:off x="2382340" y="1208088"/>
            <a:ext cx="6636417" cy="4753341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20.png" id="164" name="Google Shape;16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7440" y="1491615"/>
            <a:ext cx="6629400" cy="3911346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1"/>
          <p:cNvSpPr txBox="1"/>
          <p:nvPr/>
        </p:nvSpPr>
        <p:spPr>
          <a:xfrm>
            <a:off x="2377440" y="5806440"/>
            <a:ext cx="6629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MySilah supports SOP3 authentication (UAE nationals with verified Emirates ID). Upon SOP3 authentication, additional verified attributes are received including the user’s title (titleEN/titleAR), which is displayed alongside their name on the Agent Dashboard. SOP3 users have full access to all MySilah Agent services at the highest verification level.</a:t>
            </a:r>
            <a:endParaRPr/>
          </a:p>
        </p:txBody>
      </p:sp>
      <p:sp>
        <p:nvSpPr>
          <p:cNvPr id="166" name="Google Shape;166;p21"/>
          <p:cNvSpPr txBox="1"/>
          <p:nvPr/>
        </p:nvSpPr>
        <p:spPr>
          <a:xfrm>
            <a:off x="2377440" y="6245352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تدعم MySilah مصادقة SOP3 (المواطنون الإماراتيون الموثّقون عبر الهوية الإماراتية). عند المصادقة بمستوى SOP3، تستقبل المنصة سمات إضافية بما فيها لقب المستخدم (titleEN/titleAR) ويُعرض إلى جانب الاسم على لوحة تحكم المندوب. يتمتع مستخدمو SOP3 بصلاحية وصول كاملة إلى جميع خدمات MySilah بأعلى مستوى من التحقق من الهوية.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2"/>
          <p:cNvSpPr txBox="1"/>
          <p:nvPr>
            <p:ph type="title"/>
          </p:nvPr>
        </p:nvSpPr>
        <p:spPr>
          <a:xfrm>
            <a:off x="434879" y="203681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Manual linking page </a:t>
            </a:r>
            <a:r>
              <a:rPr lang="en-US" sz="2000">
                <a:solidFill>
                  <a:srgbClr val="7F7F7F"/>
                </a:solidFill>
              </a:rPr>
              <a:t>(if applicable)</a:t>
            </a:r>
            <a:endParaRPr>
              <a:solidFill>
                <a:srgbClr val="757070"/>
              </a:solidFill>
            </a:endParaRPr>
          </a:p>
        </p:txBody>
      </p:sp>
      <p:sp>
        <p:nvSpPr>
          <p:cNvPr id="172" name="Google Shape;172;p22"/>
          <p:cNvSpPr/>
          <p:nvPr/>
        </p:nvSpPr>
        <p:spPr>
          <a:xfrm>
            <a:off x="434879" y="1303908"/>
            <a:ext cx="6636417" cy="4753341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" name="Google Shape;173;p22"/>
          <p:cNvPicPr preferRelativeResize="0"/>
          <p:nvPr/>
        </p:nvPicPr>
        <p:blipFill rotWithShape="1">
          <a:blip r:embed="rId3">
            <a:alphaModFix/>
          </a:blip>
          <a:srcRect b="50080" l="0" r="0" t="0"/>
          <a:stretch/>
        </p:blipFill>
        <p:spPr>
          <a:xfrm>
            <a:off x="7632312" y="1798478"/>
            <a:ext cx="4128865" cy="375717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2"/>
          <p:cNvSpPr txBox="1"/>
          <p:nvPr/>
        </p:nvSpPr>
        <p:spPr>
          <a:xfrm>
            <a:off x="429768" y="2560320"/>
            <a:ext cx="6629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automatically links user accounts via UAE PASS UUID on first authentication. No manual linking step is presented.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غير منطبق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يتم ربط الحسابات تلقائياً عبر معرّف UAE PASS عند أول مصادقة. لا توجد خطوة ربط يدوي للمستخدم.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 txBox="1"/>
          <p:nvPr>
            <p:ph type="title"/>
          </p:nvPr>
        </p:nvSpPr>
        <p:spPr>
          <a:xfrm>
            <a:off x="434879" y="240096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Manual linking (NO) scenario </a:t>
            </a:r>
            <a:r>
              <a:rPr lang="en-US" sz="2000">
                <a:solidFill>
                  <a:srgbClr val="7F7F7F"/>
                </a:solidFill>
              </a:rPr>
              <a:t>(if applicable)</a:t>
            </a:r>
            <a:endParaRPr>
              <a:solidFill>
                <a:srgbClr val="757070"/>
              </a:solidFill>
            </a:endParaRPr>
          </a:p>
        </p:txBody>
      </p:sp>
      <p:sp>
        <p:nvSpPr>
          <p:cNvPr id="180" name="Google Shape;180;p23"/>
          <p:cNvSpPr/>
          <p:nvPr/>
        </p:nvSpPr>
        <p:spPr>
          <a:xfrm>
            <a:off x="434879" y="1303908"/>
            <a:ext cx="6636417" cy="4753341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1" name="Google Shape;181;p23"/>
          <p:cNvGrpSpPr/>
          <p:nvPr/>
        </p:nvGrpSpPr>
        <p:grpSpPr>
          <a:xfrm>
            <a:off x="8111958" y="281781"/>
            <a:ext cx="2996309" cy="2726571"/>
            <a:chOff x="8111958" y="281781"/>
            <a:chExt cx="2996309" cy="2726571"/>
          </a:xfrm>
        </p:grpSpPr>
        <p:pic>
          <p:nvPicPr>
            <p:cNvPr id="182" name="Google Shape;182;p23"/>
            <p:cNvPicPr preferRelativeResize="0"/>
            <p:nvPr/>
          </p:nvPicPr>
          <p:blipFill rotWithShape="1">
            <a:blip r:embed="rId3">
              <a:alphaModFix/>
            </a:blip>
            <a:srcRect b="50080" l="0" r="0" t="0"/>
            <a:stretch/>
          </p:blipFill>
          <p:spPr>
            <a:xfrm>
              <a:off x="8111958" y="281781"/>
              <a:ext cx="2996309" cy="272657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3" name="Google Shape;183;p23"/>
            <p:cNvSpPr/>
            <p:nvPr/>
          </p:nvSpPr>
          <p:spPr>
            <a:xfrm>
              <a:off x="9576245" y="1608667"/>
              <a:ext cx="786955" cy="338668"/>
            </a:xfrm>
            <a:prstGeom prst="ellipse">
              <a:avLst/>
            </a:prstGeom>
            <a:noFill/>
            <a:ln cap="flat" cmpd="sng" w="12700">
              <a:solidFill>
                <a:srgbClr val="C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84" name="Google Shape;18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36438" y="2309897"/>
            <a:ext cx="3637524" cy="3993537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3"/>
          <p:cNvSpPr txBox="1"/>
          <p:nvPr/>
        </p:nvSpPr>
        <p:spPr>
          <a:xfrm>
            <a:off x="429768" y="2560320"/>
            <a:ext cx="6629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automatically links user accounts via UAE PASS UUID on first authentication. No manual linking step is presented.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غير منطبق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يتم ربط الحسابات تلقائياً عبر معرّف UAE PASS عند أول مصادقة. لا توجد خطوة ربط يدوي للمستخدم.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4"/>
          <p:cNvSpPr txBox="1"/>
          <p:nvPr>
            <p:ph type="title"/>
          </p:nvPr>
        </p:nvSpPr>
        <p:spPr>
          <a:xfrm>
            <a:off x="434879" y="395410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Manual linking (YES) scenario </a:t>
            </a:r>
            <a:r>
              <a:rPr lang="en-US" sz="2000">
                <a:solidFill>
                  <a:srgbClr val="7F7F7F"/>
                </a:solidFill>
              </a:rPr>
              <a:t>(if applicable)</a:t>
            </a:r>
            <a:endParaRPr>
              <a:solidFill>
                <a:srgbClr val="757070"/>
              </a:solidFill>
            </a:endParaRPr>
          </a:p>
        </p:txBody>
      </p:sp>
      <p:sp>
        <p:nvSpPr>
          <p:cNvPr id="191" name="Google Shape;191;p24"/>
          <p:cNvSpPr/>
          <p:nvPr/>
        </p:nvSpPr>
        <p:spPr>
          <a:xfrm>
            <a:off x="434879" y="1303908"/>
            <a:ext cx="6636417" cy="4753341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2" name="Google Shape;192;p24"/>
          <p:cNvGrpSpPr/>
          <p:nvPr/>
        </p:nvGrpSpPr>
        <p:grpSpPr>
          <a:xfrm>
            <a:off x="7954170" y="471968"/>
            <a:ext cx="2996309" cy="2726571"/>
            <a:chOff x="7954170" y="471968"/>
            <a:chExt cx="2996309" cy="2726571"/>
          </a:xfrm>
        </p:grpSpPr>
        <p:pic>
          <p:nvPicPr>
            <p:cNvPr id="193" name="Google Shape;193;p24"/>
            <p:cNvPicPr preferRelativeResize="0"/>
            <p:nvPr/>
          </p:nvPicPr>
          <p:blipFill rotWithShape="1">
            <a:blip r:embed="rId3">
              <a:alphaModFix/>
            </a:blip>
            <a:srcRect b="50080" l="0" r="0" t="0"/>
            <a:stretch/>
          </p:blipFill>
          <p:spPr>
            <a:xfrm>
              <a:off x="7954170" y="471968"/>
              <a:ext cx="2996309" cy="272657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4" name="Google Shape;194;p24"/>
            <p:cNvSpPr/>
            <p:nvPr/>
          </p:nvSpPr>
          <p:spPr>
            <a:xfrm>
              <a:off x="8693371" y="1795585"/>
              <a:ext cx="786955" cy="338668"/>
            </a:xfrm>
            <a:prstGeom prst="ellipse">
              <a:avLst/>
            </a:prstGeom>
            <a:noFill/>
            <a:ln cap="flat" cmpd="sng" w="12700">
              <a:solidFill>
                <a:srgbClr val="C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95" name="Google Shape;19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41884" y="2572711"/>
            <a:ext cx="4172754" cy="370438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4"/>
          <p:cNvSpPr txBox="1"/>
          <p:nvPr/>
        </p:nvSpPr>
        <p:spPr>
          <a:xfrm>
            <a:off x="429768" y="2560320"/>
            <a:ext cx="6629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automatically links user accounts via UAE PASS UUID on first authentication. No manual linking step is presented.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غير منطبق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يتم ربط الحسابات تلقائياً عبر معرّف UAE PASS عند أول مصادقة. لا توجد خطوة ربط يدوي للمستخدم.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5"/>
          <p:cNvSpPr txBox="1"/>
          <p:nvPr>
            <p:ph type="title"/>
          </p:nvPr>
        </p:nvSpPr>
        <p:spPr>
          <a:xfrm>
            <a:off x="434879" y="355702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Only registration/Sign up Scenario (If applicable)</a:t>
            </a:r>
            <a:endParaRPr u="sng"/>
          </a:p>
        </p:txBody>
      </p:sp>
      <p:pic>
        <p:nvPicPr>
          <p:cNvPr descr="12.png" id="202" name="Google Shape;20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15299" y="1453438"/>
            <a:ext cx="3671776" cy="3951124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5"/>
          <p:cNvSpPr txBox="1"/>
          <p:nvPr/>
        </p:nvSpPr>
        <p:spPr>
          <a:xfrm>
            <a:off x="2304288" y="5806440"/>
            <a:ext cx="6629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Users without a MySilah account register via app.mysilah.ae/register using UAE PASS. Verified identity data auto-populates the registration. No prior MySilah account required.</a:t>
            </a:r>
            <a:endParaRPr/>
          </a:p>
        </p:txBody>
      </p:sp>
      <p:sp>
        <p:nvSpPr>
          <p:cNvPr id="204" name="Google Shape;204;p25"/>
          <p:cNvSpPr txBox="1"/>
          <p:nvPr/>
        </p:nvSpPr>
        <p:spPr>
          <a:xfrm>
            <a:off x="2304288" y="6245352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يمكن للمستخدمين غير المسجلين التسجيل عبر UAE PASS. تستخدم المنصة بيانات الهوية الموثّقة لاستكمال التسجيل تلقائياً. لا يُشترط وجود حساب مسبق.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6"/>
          <p:cNvSpPr txBox="1"/>
          <p:nvPr>
            <p:ph type="title"/>
          </p:nvPr>
        </p:nvSpPr>
        <p:spPr>
          <a:xfrm>
            <a:off x="434879" y="498649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u="sng"/>
              <a:t>Error Handling</a:t>
            </a:r>
            <a:br>
              <a:rPr lang="en-US" u="sng"/>
            </a:br>
            <a:r>
              <a:rPr lang="en-US" u="sng"/>
              <a:t>O</a:t>
            </a:r>
            <a:r>
              <a:rPr lang="en-US"/>
              <a:t>nly existing users error message</a:t>
            </a:r>
            <a:endParaRPr/>
          </a:p>
        </p:txBody>
      </p:sp>
      <p:sp>
        <p:nvSpPr>
          <p:cNvPr id="210" name="Google Shape;210;p26"/>
          <p:cNvSpPr/>
          <p:nvPr/>
        </p:nvSpPr>
        <p:spPr>
          <a:xfrm>
            <a:off x="434879" y="1303908"/>
            <a:ext cx="6636417" cy="4753341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6"/>
          <p:cNvSpPr/>
          <p:nvPr/>
        </p:nvSpPr>
        <p:spPr>
          <a:xfrm>
            <a:off x="8204688" y="2011649"/>
            <a:ext cx="2684585" cy="1477328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Service is only for registered users, please contact MySilah in order to access the services </a:t>
            </a:r>
            <a:endParaRPr/>
          </a:p>
        </p:txBody>
      </p:sp>
      <p:sp>
        <p:nvSpPr>
          <p:cNvPr id="212" name="Google Shape;212;p26"/>
          <p:cNvSpPr/>
          <p:nvPr/>
        </p:nvSpPr>
        <p:spPr>
          <a:xfrm>
            <a:off x="8204688" y="3872179"/>
            <a:ext cx="2684585" cy="120032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هذه الخدمة مخصصة للمستخدمين المسجلين فقط، يرجى التواصل مع MySilah</a:t>
            </a:r>
            <a:endParaRPr/>
          </a:p>
        </p:txBody>
      </p:sp>
      <p:sp>
        <p:nvSpPr>
          <p:cNvPr id="213" name="Google Shape;213;p26"/>
          <p:cNvSpPr txBox="1"/>
          <p:nvPr/>
        </p:nvSpPr>
        <p:spPr>
          <a:xfrm>
            <a:off x="429768" y="2560320"/>
            <a:ext cx="6629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allows new user registration via UAE PASS. Access is not restricted to pre-existing users only.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غير منطبق</a:t>
            </a:r>
            <a:b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تسمح MySilah بتسجيل مستخدمين جدد عبر UAE PASS. لا يقتصر الوصول على المستخدمين المسجلين مسبقاً.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7"/>
          <p:cNvSpPr txBox="1"/>
          <p:nvPr>
            <p:ph type="title"/>
          </p:nvPr>
        </p:nvSpPr>
        <p:spPr>
          <a:xfrm>
            <a:off x="434879" y="439656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u="sng"/>
              <a:t>Error Handling</a:t>
            </a:r>
            <a:br>
              <a:rPr lang="en-US" u="sng"/>
            </a:br>
            <a:r>
              <a:rPr lang="en-US"/>
              <a:t>Unverified user restriction </a:t>
            </a:r>
            <a:endParaRPr/>
          </a:p>
        </p:txBody>
      </p:sp>
      <p:sp>
        <p:nvSpPr>
          <p:cNvPr id="219" name="Google Shape;219;p27"/>
          <p:cNvSpPr/>
          <p:nvPr/>
        </p:nvSpPr>
        <p:spPr>
          <a:xfrm>
            <a:off x="8063135" y="1563855"/>
            <a:ext cx="2637692" cy="230832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You are not eligible to access this service. Your account is either not upgraded or you have a visitor account. Please contact MySilah to access the services.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7"/>
          <p:cNvSpPr/>
          <p:nvPr/>
        </p:nvSpPr>
        <p:spPr>
          <a:xfrm>
            <a:off x="8063135" y="4072989"/>
            <a:ext cx="2637692" cy="1477328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أنت غير مؤهل للوصول إلى هذه الخدمة. إما أن حسابك لم تتم ترقيته أو أن لديك حساب زائر. يُرجى التواصل مع MySilah لتمكين من الوصول إلى الخدمة.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7"/>
          <p:cNvSpPr txBox="1"/>
          <p:nvPr/>
        </p:nvSpPr>
        <p:spPr>
          <a:xfrm>
            <a:off x="429768" y="5806440"/>
            <a:ext cx="6629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If user authenticates with a Basic (unverified) UAE PASS account, MySilah restricts access and displays: "Your UAE PASS account is not fully verified. Please upgrade your account to access MySilah services."</a:t>
            </a:r>
            <a:endParaRPr/>
          </a:p>
        </p:txBody>
      </p:sp>
      <p:sp>
        <p:nvSpPr>
          <p:cNvPr id="222" name="Google Shape;222;p27"/>
          <p:cNvSpPr txBox="1"/>
          <p:nvPr/>
        </p:nvSpPr>
        <p:spPr>
          <a:xfrm>
            <a:off x="429768" y="6245352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إذا كان حساب UAE PASS للمستخدم أساسياً (غير موثّق)، تمنع MySilah الوصول وتعرض: "حسابك غير موثّق. يرجى ترقية الحساب للوصول إلى خدمات MySilah."</a:t>
            </a:r>
            <a:endParaRPr/>
          </a:p>
        </p:txBody>
      </p:sp>
      <p:pic>
        <p:nvPicPr>
          <p:cNvPr id="223" name="Google Shape;22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4825" y="1128631"/>
            <a:ext cx="3911473" cy="4525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8"/>
          <p:cNvSpPr txBox="1"/>
          <p:nvPr>
            <p:ph type="title"/>
          </p:nvPr>
        </p:nvSpPr>
        <p:spPr>
          <a:xfrm>
            <a:off x="434879" y="469151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u="sng"/>
              <a:t>Error Handling</a:t>
            </a:r>
            <a:br>
              <a:rPr lang="en-US" u="sng"/>
            </a:br>
            <a:r>
              <a:rPr lang="en-US"/>
              <a:t>Something went wrong during the login</a:t>
            </a:r>
            <a:endParaRPr/>
          </a:p>
        </p:txBody>
      </p:sp>
      <p:sp>
        <p:nvSpPr>
          <p:cNvPr id="229" name="Google Shape;229;p28"/>
          <p:cNvSpPr/>
          <p:nvPr/>
        </p:nvSpPr>
        <p:spPr>
          <a:xfrm>
            <a:off x="7725506" y="2182643"/>
            <a:ext cx="3528648" cy="64633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Something went wrong during the login, please try again later!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8"/>
          <p:cNvSpPr/>
          <p:nvPr/>
        </p:nvSpPr>
        <p:spPr>
          <a:xfrm>
            <a:off x="7725507" y="3636559"/>
            <a:ext cx="3528648" cy="64633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حدث خطأ ما أثناء تسجيل الدخول، يُرجى المحاولة مرة أخرى لاحقًا!</a:t>
            </a:r>
            <a:endParaRPr/>
          </a:p>
        </p:txBody>
      </p:sp>
      <p:sp>
        <p:nvSpPr>
          <p:cNvPr id="231" name="Google Shape;231;p28"/>
          <p:cNvSpPr txBox="1"/>
          <p:nvPr/>
        </p:nvSpPr>
        <p:spPr>
          <a:xfrm>
            <a:off x="429768" y="5806440"/>
            <a:ext cx="6629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UAE PASS displays an error for invalid credentials. If the OAuth callback fails, user is redirected to app.mysilah.ae/login with: "Login failed. Please try again."</a:t>
            </a:r>
            <a:endParaRPr/>
          </a:p>
        </p:txBody>
      </p:sp>
      <p:sp>
        <p:nvSpPr>
          <p:cNvPr id="232" name="Google Shape;232;p28"/>
          <p:cNvSpPr txBox="1"/>
          <p:nvPr/>
        </p:nvSpPr>
        <p:spPr>
          <a:xfrm>
            <a:off x="429768" y="6245352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يعرض UAE PASS خطأً لبيانات غير صحيحة. في حال فشل عملية الاسترداد، يُعاد توجيه المستخدم إلى صفحة تسجيل الدخول برسالة: "فشل تسجيل الدخول. يرجى المحاولة مرة أخرى."</a:t>
            </a:r>
            <a:endParaRPr/>
          </a:p>
        </p:txBody>
      </p:sp>
      <p:pic>
        <p:nvPicPr>
          <p:cNvPr id="233" name="Google Shape;23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625" y="1539850"/>
            <a:ext cx="6777498" cy="356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9"/>
          <p:cNvSpPr txBox="1"/>
          <p:nvPr>
            <p:ph type="title"/>
          </p:nvPr>
        </p:nvSpPr>
        <p:spPr>
          <a:xfrm>
            <a:off x="434879" y="410158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u="sng"/>
              <a:t>Error Handling</a:t>
            </a:r>
            <a:br>
              <a:rPr lang="en-US" u="sng"/>
            </a:br>
            <a:r>
              <a:rPr lang="en-US"/>
              <a:t>User cancel scenario </a:t>
            </a:r>
            <a:endParaRPr/>
          </a:p>
        </p:txBody>
      </p:sp>
      <p:sp>
        <p:nvSpPr>
          <p:cNvPr id="239" name="Google Shape;239;p29"/>
          <p:cNvSpPr/>
          <p:nvPr/>
        </p:nvSpPr>
        <p:spPr>
          <a:xfrm>
            <a:off x="8670138" y="2312350"/>
            <a:ext cx="2646900" cy="369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User cancelled the login.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9"/>
          <p:cNvSpPr/>
          <p:nvPr/>
        </p:nvSpPr>
        <p:spPr>
          <a:xfrm>
            <a:off x="8670138" y="3304311"/>
            <a:ext cx="2646900" cy="369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قام المستخدم بالغاء تسجيل الدخول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15.png" id="241" name="Google Shape;24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7234" y="1182023"/>
            <a:ext cx="2018768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9"/>
          <p:cNvSpPr txBox="1"/>
          <p:nvPr/>
        </p:nvSpPr>
        <p:spPr>
          <a:xfrm>
            <a:off x="429768" y="5806440"/>
            <a:ext cx="6629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 taps "Decline" on the UAE PASS Login Request Alert (or clicks "Cancel Request" on the browser polling page). Authentication is cancelled and user is redirected to app.mysilah.ae/login.</a:t>
            </a:r>
            <a:endParaRPr/>
          </a:p>
        </p:txBody>
      </p:sp>
      <p:sp>
        <p:nvSpPr>
          <p:cNvPr id="243" name="Google Shape;243;p29"/>
          <p:cNvSpPr txBox="1"/>
          <p:nvPr/>
        </p:nvSpPr>
        <p:spPr>
          <a:xfrm>
            <a:off x="429768" y="6245352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يضغط المستخدم "رفض" في إشعار الطلب أو "إلغاء الطلب" في المتصفح. يُلغى تسجيل الدخول ويُعاد توجيه المستخدم إلى صفحة تسجيل الدخول.</a:t>
            </a:r>
            <a:endParaRPr/>
          </a:p>
        </p:txBody>
      </p:sp>
      <p:pic>
        <p:nvPicPr>
          <p:cNvPr id="244" name="Google Shape;244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07250" y="1627825"/>
            <a:ext cx="4737551" cy="2465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0"/>
          <p:cNvSpPr txBox="1"/>
          <p:nvPr>
            <p:ph type="title"/>
          </p:nvPr>
        </p:nvSpPr>
        <p:spPr>
          <a:xfrm>
            <a:off x="434879" y="483901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Logout scenario </a:t>
            </a:r>
            <a:endParaRPr/>
          </a:p>
        </p:txBody>
      </p:sp>
      <p:pic>
        <p:nvPicPr>
          <p:cNvPr descr="20.png" id="250" name="Google Shape;25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8327" y="1719630"/>
            <a:ext cx="4670950" cy="275584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11.png" id="251" name="Google Shape;251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22123" y="1838103"/>
            <a:ext cx="4586752" cy="2637375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30"/>
          <p:cNvSpPr txBox="1"/>
          <p:nvPr/>
        </p:nvSpPr>
        <p:spPr>
          <a:xfrm>
            <a:off x="2368296" y="5806440"/>
            <a:ext cx="6629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 clicks their name/avatar in the top-right of the MySilah Agent Dashboard and selects "Logout". Session is terminated and user is redirected to app.mysilah.ae/login.</a:t>
            </a:r>
            <a:endParaRPr/>
          </a:p>
        </p:txBody>
      </p:sp>
      <p:sp>
        <p:nvSpPr>
          <p:cNvPr id="253" name="Google Shape;253;p30"/>
          <p:cNvSpPr txBox="1"/>
          <p:nvPr/>
        </p:nvSpPr>
        <p:spPr>
          <a:xfrm>
            <a:off x="2368296" y="6245352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AR: يضغط المستخدم على اسمه في الزاوية اليمنى العليا من لوحة التحكم ويختار "تسجيل الخروج". تنتهي الجلسة ويُعاد توجيه المستخدم إلى صفحة تسجيل الدخول.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1"/>
          <p:cNvSpPr txBox="1"/>
          <p:nvPr>
            <p:ph type="title"/>
          </p:nvPr>
        </p:nvSpPr>
        <p:spPr>
          <a:xfrm>
            <a:off x="434879" y="424907"/>
            <a:ext cx="10515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u="sng"/>
              <a:t>APP to WEB scenario </a:t>
            </a:r>
            <a:r>
              <a:rPr lang="en-US" sz="1800">
                <a:solidFill>
                  <a:srgbClr val="7F7F7F"/>
                </a:solidFill>
              </a:rPr>
              <a:t>(if mobile integration) </a:t>
            </a:r>
            <a:endParaRPr/>
          </a:p>
        </p:txBody>
      </p:sp>
      <p:sp>
        <p:nvSpPr>
          <p:cNvPr id="260" name="Google Shape;260;p31"/>
          <p:cNvSpPr/>
          <p:nvPr/>
        </p:nvSpPr>
        <p:spPr>
          <a:xfrm>
            <a:off x="547678" y="1346811"/>
            <a:ext cx="6636417" cy="4753341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1" name="Google Shape;26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60346" y="306374"/>
            <a:ext cx="1767840" cy="3928533"/>
          </a:xfrm>
          <a:prstGeom prst="rect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A screenshot of a cell phone&#10;&#10;Description automatically generated" id="262" name="Google Shape;262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92562" y="1694233"/>
            <a:ext cx="1763972" cy="3919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582400" y="3123934"/>
            <a:ext cx="1701777" cy="3539066"/>
          </a:xfrm>
          <a:prstGeom prst="rect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64" name="Google Shape;264;p31"/>
          <p:cNvSpPr txBox="1"/>
          <p:nvPr/>
        </p:nvSpPr>
        <p:spPr>
          <a:xfrm>
            <a:off x="539496" y="2560320"/>
            <a:ext cx="6629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b="0" lang="en-US" sz="12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 sz="12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is a web-only platform. No native mobile application exists.</a:t>
            </a:r>
            <a:br>
              <a:rPr b="0" lang="en-US" sz="12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lang="en-US" sz="12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 sz="12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غير منطبق</a:t>
            </a:r>
            <a:br>
              <a:rPr b="0" lang="en-US" sz="12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 sz="12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منصة ويب فقط. لا يوجد تطبيق جوال.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