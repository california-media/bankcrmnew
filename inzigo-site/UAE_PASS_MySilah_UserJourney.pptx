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257" r:id="rId2"/>
    <p:sldId id="268" r:id="rId3"/>
    <p:sldId id="269" r:id="rId4"/>
    <p:sldId id="287" r:id="rId5"/>
    <p:sldId id="290" r:id="rId6"/>
    <p:sldId id="291" r:id="rId7"/>
    <p:sldId id="272" r:id="rId8"/>
    <p:sldId id="275" r:id="rId9"/>
    <p:sldId id="276" r:id="rId10"/>
    <p:sldId id="282" r:id="rId11"/>
    <p:sldId id="284" r:id="rId12"/>
    <p:sldId id="283" r:id="rId13"/>
    <p:sldId id="273" r:id="rId14"/>
    <p:sldId id="277" r:id="rId15"/>
    <p:sldId id="278" r:id="rId16"/>
    <p:sldId id="279" r:id="rId17"/>
    <p:sldId id="280" r:id="rId18"/>
    <p:sldId id="285" r:id="rId19"/>
    <p:sldId id="2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hawla Al Mheiri" initials="KAM" lastIdx="3" clrIdx="0">
    <p:extLst>
      <p:ext uri="{19B8F6BF-5375-455C-9EA6-DF929625EA0E}">
        <p15:presenceInfo xmlns:p15="http://schemas.microsoft.com/office/powerpoint/2012/main" userId="S-1-5-21-1269000686-2003822997-3531399148-759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9FC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94632"/>
  </p:normalViewPr>
  <p:slideViewPr>
    <p:cSldViewPr snapToGrid="0">
      <p:cViewPr varScale="1">
        <p:scale>
          <a:sx n="61" d="100"/>
          <a:sy n="61" d="100"/>
        </p:scale>
        <p:origin x="1116" y="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commentAuthors" Target="commentAuthor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suni Ranasinghe" userId="ad860f31-13d4-4663-af2d-219258eb510b" providerId="ADAL" clId="{8CDE8621-3E57-455A-9927-87C1DEA3A532}"/>
    <pc:docChg chg="custSel modSld">
      <pc:chgData name="Kasuni Ranasinghe" userId="ad860f31-13d4-4663-af2d-219258eb510b" providerId="ADAL" clId="{8CDE8621-3E57-455A-9927-87C1DEA3A532}" dt="2024-10-20T06:27:43.896" v="67" actId="20577"/>
      <pc:docMkLst>
        <pc:docMk/>
      </pc:docMkLst>
      <pc:sldChg chg="modSp mod">
        <pc:chgData name="Kasuni Ranasinghe" userId="ad860f31-13d4-4663-af2d-219258eb510b" providerId="ADAL" clId="{8CDE8621-3E57-455A-9927-87C1DEA3A532}" dt="2024-10-20T06:26:46.329" v="32" actId="20577"/>
        <pc:sldMkLst>
          <pc:docMk/>
          <pc:sldMk cId="360118362" sldId="272"/>
        </pc:sldMkLst>
        <pc:spChg chg="mod">
          <ac:chgData name="Kasuni Ranasinghe" userId="ad860f31-13d4-4663-af2d-219258eb510b" providerId="ADAL" clId="{8CDE8621-3E57-455A-9927-87C1DEA3A532}" dt="2024-10-20T06:26:46.329" v="32" actId="20577"/>
          <ac:spMkLst>
            <pc:docMk/>
            <pc:sldMk cId="360118362" sldId="272"/>
            <ac:spMk id="2" creationId="{00000000-0000-0000-0000-000000000000}"/>
          </ac:spMkLst>
        </pc:spChg>
      </pc:sldChg>
      <pc:sldChg chg="modSp mod">
        <pc:chgData name="Kasuni Ranasinghe" userId="ad860f31-13d4-4663-af2d-219258eb510b" providerId="ADAL" clId="{8CDE8621-3E57-455A-9927-87C1DEA3A532}" dt="2024-10-20T06:27:32.637" v="65" actId="20577"/>
        <pc:sldMkLst>
          <pc:docMk/>
          <pc:sldMk cId="2633114098" sldId="273"/>
        </pc:sldMkLst>
        <pc:spChg chg="mod">
          <ac:chgData name="Kasuni Ranasinghe" userId="ad860f31-13d4-4663-af2d-219258eb510b" providerId="ADAL" clId="{8CDE8621-3E57-455A-9927-87C1DEA3A532}" dt="2024-10-20T06:27:32.637" v="65" actId="20577"/>
          <ac:spMkLst>
            <pc:docMk/>
            <pc:sldMk cId="2633114098" sldId="273"/>
            <ac:spMk id="2" creationId="{00000000-0000-0000-0000-000000000000}"/>
          </ac:spMkLst>
        </pc:spChg>
      </pc:sldChg>
      <pc:sldChg chg="modSp mod">
        <pc:chgData name="Kasuni Ranasinghe" userId="ad860f31-13d4-4663-af2d-219258eb510b" providerId="ADAL" clId="{8CDE8621-3E57-455A-9927-87C1DEA3A532}" dt="2024-10-20T06:26:58.379" v="50" actId="20577"/>
        <pc:sldMkLst>
          <pc:docMk/>
          <pc:sldMk cId="4165616860" sldId="275"/>
        </pc:sldMkLst>
        <pc:spChg chg="mod">
          <ac:chgData name="Kasuni Ranasinghe" userId="ad860f31-13d4-4663-af2d-219258eb510b" providerId="ADAL" clId="{8CDE8621-3E57-455A-9927-87C1DEA3A532}" dt="2024-10-20T06:26:58.379" v="50" actId="20577"/>
          <ac:spMkLst>
            <pc:docMk/>
            <pc:sldMk cId="4165616860" sldId="275"/>
            <ac:spMk id="2" creationId="{00000000-0000-0000-0000-000000000000}"/>
          </ac:spMkLst>
        </pc:spChg>
      </pc:sldChg>
      <pc:sldChg chg="modSp mod">
        <pc:chgData name="Kasuni Ranasinghe" userId="ad860f31-13d4-4663-af2d-219258eb510b" providerId="ADAL" clId="{8CDE8621-3E57-455A-9927-87C1DEA3A532}" dt="2024-10-20T06:27:43.896" v="67" actId="20577"/>
        <pc:sldMkLst>
          <pc:docMk/>
          <pc:sldMk cId="684814024" sldId="277"/>
        </pc:sldMkLst>
        <pc:spChg chg="mod">
          <ac:chgData name="Kasuni Ranasinghe" userId="ad860f31-13d4-4663-af2d-219258eb510b" providerId="ADAL" clId="{8CDE8621-3E57-455A-9927-87C1DEA3A532}" dt="2024-10-20T06:27:43.896" v="67" actId="20577"/>
          <ac:spMkLst>
            <pc:docMk/>
            <pc:sldMk cId="684814024" sldId="277"/>
            <ac:spMk id="2" creationId="{00000000-0000-0000-0000-000000000000}"/>
          </ac:spMkLst>
        </pc:spChg>
      </pc:sldChg>
      <pc:sldChg chg="modSp mod delCm">
        <pc:chgData name="Kasuni Ranasinghe" userId="ad860f31-13d4-4663-af2d-219258eb510b" providerId="ADAL" clId="{8CDE8621-3E57-455A-9927-87C1DEA3A532}" dt="2024-10-20T06:26:21.972" v="14" actId="20577"/>
        <pc:sldMkLst>
          <pc:docMk/>
          <pc:sldMk cId="457447696" sldId="287"/>
        </pc:sldMkLst>
        <pc:spChg chg="mod">
          <ac:chgData name="Kasuni Ranasinghe" userId="ad860f31-13d4-4663-af2d-219258eb510b" providerId="ADAL" clId="{8CDE8621-3E57-455A-9927-87C1DEA3A532}" dt="2024-10-20T06:26:21.972" v="14" actId="20577"/>
          <ac:spMkLst>
            <pc:docMk/>
            <pc:sldMk cId="457447696" sldId="287"/>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05EBA8-65E6-4AFC-BB93-51B3932957B4}" type="datetimeFigureOut">
              <a:rPr lang="en-US" smtClean="0"/>
              <a:t>10/20/2024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FA349-07EF-4087-8CF6-293326188FA8}" type="slidenum">
              <a:rPr lang="en-US" smtClean="0"/>
              <a:t>‹#›</a:t>
            </a:fld>
            <a:endParaRPr lang="en-US"/>
          </a:p>
        </p:txBody>
      </p:sp>
    </p:spTree>
    <p:extLst>
      <p:ext uri="{BB962C8B-B14F-4D97-AF65-F5344CB8AC3E}">
        <p14:creationId xmlns:p14="http://schemas.microsoft.com/office/powerpoint/2010/main" val="3646866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FFA349-07EF-4087-8CF6-293326188FA8}" type="slidenum">
              <a:rPr lang="en-US" smtClean="0"/>
              <a:t>19</a:t>
            </a:fld>
            <a:endParaRPr lang="en-US"/>
          </a:p>
        </p:txBody>
      </p:sp>
    </p:spTree>
    <p:extLst>
      <p:ext uri="{BB962C8B-B14F-4D97-AF65-F5344CB8AC3E}">
        <p14:creationId xmlns:p14="http://schemas.microsoft.com/office/powerpoint/2010/main" val="696886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ECE28A2C-51BE-433A-B619-F68B5A74B1F2}" type="datetimeFigureOut">
              <a:rPr lang="en-SG" smtClean="0"/>
              <a:t>20/10/2024</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EFDCA9F-61FB-448D-9986-708F524BC7AC}" type="slidenum">
              <a:rPr lang="en-SG" smtClean="0"/>
              <a:t>‹#›</a:t>
            </a:fld>
            <a:endParaRPr lang="en-SG"/>
          </a:p>
        </p:txBody>
      </p:sp>
    </p:spTree>
    <p:extLst>
      <p:ext uri="{BB962C8B-B14F-4D97-AF65-F5344CB8AC3E}">
        <p14:creationId xmlns:p14="http://schemas.microsoft.com/office/powerpoint/2010/main" val="833798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49225"/>
            <a:ext cx="10515600" cy="536575"/>
          </a:xfrm>
        </p:spPr>
        <p:txBody>
          <a:bodyPr>
            <a:noAutofit/>
          </a:bodyPr>
          <a:lstStyle>
            <a:lvl1pPr>
              <a:defRPr sz="2400" b="1"/>
            </a:lvl1pPr>
          </a:lstStyle>
          <a:p>
            <a:r>
              <a:rPr lang="en-US" dirty="0"/>
              <a:t>Click to edit Master title style</a:t>
            </a:r>
            <a:endParaRPr lang="en-SG"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ECE28A2C-51BE-433A-B619-F68B5A74B1F2}" type="datetimeFigureOut">
              <a:rPr lang="en-SG" smtClean="0"/>
              <a:t>20/10/2024</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EFDCA9F-61FB-448D-9986-708F524BC7AC}" type="slidenum">
              <a:rPr lang="en-SG" smtClean="0"/>
              <a:t>‹#›</a:t>
            </a:fld>
            <a:endParaRPr lang="en-SG"/>
          </a:p>
        </p:txBody>
      </p:sp>
    </p:spTree>
    <p:extLst>
      <p:ext uri="{BB962C8B-B14F-4D97-AF65-F5344CB8AC3E}">
        <p14:creationId xmlns:p14="http://schemas.microsoft.com/office/powerpoint/2010/main" val="23480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E28A2C-51BE-433A-B619-F68B5A74B1F2}" type="datetimeFigureOut">
              <a:rPr lang="en-SG" smtClean="0"/>
              <a:t>20/10/2024</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EFDCA9F-61FB-448D-9986-708F524BC7AC}" type="slidenum">
              <a:rPr lang="en-SG" smtClean="0"/>
              <a:t>‹#›</a:t>
            </a:fld>
            <a:endParaRPr lang="en-SG"/>
          </a:p>
        </p:txBody>
      </p:sp>
    </p:spTree>
    <p:extLst>
      <p:ext uri="{BB962C8B-B14F-4D97-AF65-F5344CB8AC3E}">
        <p14:creationId xmlns:p14="http://schemas.microsoft.com/office/powerpoint/2010/main" val="125416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ECE28A2C-51BE-433A-B619-F68B5A74B1F2}" type="datetimeFigureOut">
              <a:rPr lang="en-SG" smtClean="0"/>
              <a:t>20/10/2024</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AEFDCA9F-61FB-448D-9986-708F524BC7AC}" type="slidenum">
              <a:rPr lang="en-SG" smtClean="0"/>
              <a:t>‹#›</a:t>
            </a:fld>
            <a:endParaRPr lang="en-SG"/>
          </a:p>
        </p:txBody>
      </p:sp>
    </p:spTree>
    <p:extLst>
      <p:ext uri="{BB962C8B-B14F-4D97-AF65-F5344CB8AC3E}">
        <p14:creationId xmlns:p14="http://schemas.microsoft.com/office/powerpoint/2010/main" val="329155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ECE28A2C-51BE-433A-B619-F68B5A74B1F2}" type="datetimeFigureOut">
              <a:rPr lang="en-SG" smtClean="0"/>
              <a:t>20/10/2024</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AEFDCA9F-61FB-448D-9986-708F524BC7AC}" type="slidenum">
              <a:rPr lang="en-SG" smtClean="0"/>
              <a:t>‹#›</a:t>
            </a:fld>
            <a:endParaRPr lang="en-SG"/>
          </a:p>
        </p:txBody>
      </p:sp>
    </p:spTree>
    <p:extLst>
      <p:ext uri="{BB962C8B-B14F-4D97-AF65-F5344CB8AC3E}">
        <p14:creationId xmlns:p14="http://schemas.microsoft.com/office/powerpoint/2010/main" val="3434732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ECE28A2C-51BE-433A-B619-F68B5A74B1F2}" type="datetimeFigureOut">
              <a:rPr lang="en-SG" smtClean="0"/>
              <a:t>20/10/2024</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AEFDCA9F-61FB-448D-9986-708F524BC7AC}" type="slidenum">
              <a:rPr lang="en-SG" smtClean="0"/>
              <a:t>‹#›</a:t>
            </a:fld>
            <a:endParaRPr lang="en-SG"/>
          </a:p>
        </p:txBody>
      </p:sp>
    </p:spTree>
    <p:extLst>
      <p:ext uri="{BB962C8B-B14F-4D97-AF65-F5344CB8AC3E}">
        <p14:creationId xmlns:p14="http://schemas.microsoft.com/office/powerpoint/2010/main" val="994881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E28A2C-51BE-433A-B619-F68B5A74B1F2}" type="datetimeFigureOut">
              <a:rPr lang="en-SG" smtClean="0"/>
              <a:t>20/10/2024</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AEFDCA9F-61FB-448D-9986-708F524BC7AC}" type="slidenum">
              <a:rPr lang="en-SG" smtClean="0"/>
              <a:t>‹#›</a:t>
            </a:fld>
            <a:endParaRPr lang="en-SG"/>
          </a:p>
        </p:txBody>
      </p:sp>
    </p:spTree>
    <p:extLst>
      <p:ext uri="{BB962C8B-B14F-4D97-AF65-F5344CB8AC3E}">
        <p14:creationId xmlns:p14="http://schemas.microsoft.com/office/powerpoint/2010/main" val="3217214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28A2C-51BE-433A-B619-F68B5A74B1F2}" type="datetimeFigureOut">
              <a:rPr lang="en-SG" smtClean="0"/>
              <a:t>20/10/2024</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AEFDCA9F-61FB-448D-9986-708F524BC7AC}" type="slidenum">
              <a:rPr lang="en-SG" smtClean="0"/>
              <a:t>‹#›</a:t>
            </a:fld>
            <a:endParaRPr lang="en-SG"/>
          </a:p>
        </p:txBody>
      </p:sp>
    </p:spTree>
    <p:extLst>
      <p:ext uri="{BB962C8B-B14F-4D97-AF65-F5344CB8AC3E}">
        <p14:creationId xmlns:p14="http://schemas.microsoft.com/office/powerpoint/2010/main" val="1936430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28A2C-51BE-433A-B619-F68B5A74B1F2}" type="datetimeFigureOut">
              <a:rPr lang="en-SG" smtClean="0"/>
              <a:t>20/10/2024</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AEFDCA9F-61FB-448D-9986-708F524BC7AC}" type="slidenum">
              <a:rPr lang="en-SG" smtClean="0"/>
              <a:t>‹#›</a:t>
            </a:fld>
            <a:endParaRPr lang="en-SG"/>
          </a:p>
        </p:txBody>
      </p:sp>
    </p:spTree>
    <p:extLst>
      <p:ext uri="{BB962C8B-B14F-4D97-AF65-F5344CB8AC3E}">
        <p14:creationId xmlns:p14="http://schemas.microsoft.com/office/powerpoint/2010/main" val="295811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ECE28A2C-51BE-433A-B619-F68B5A74B1F2}" type="datetimeFigureOut">
              <a:rPr lang="en-SG" smtClean="0"/>
              <a:t>20/10/2024</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EFDCA9F-61FB-448D-9986-708F524BC7AC}" type="slidenum">
              <a:rPr lang="en-SG" smtClean="0"/>
              <a:t>‹#›</a:t>
            </a:fld>
            <a:endParaRPr lang="en-SG"/>
          </a:p>
        </p:txBody>
      </p:sp>
    </p:spTree>
    <p:extLst>
      <p:ext uri="{BB962C8B-B14F-4D97-AF65-F5344CB8AC3E}">
        <p14:creationId xmlns:p14="http://schemas.microsoft.com/office/powerpoint/2010/main" val="4156029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ECE28A2C-51BE-433A-B619-F68B5A74B1F2}" type="datetimeFigureOut">
              <a:rPr lang="en-SG" smtClean="0"/>
              <a:t>20/10/2024</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EFDCA9F-61FB-448D-9986-708F524BC7AC}" type="slidenum">
              <a:rPr lang="en-SG" smtClean="0"/>
              <a:t>‹#›</a:t>
            </a:fld>
            <a:endParaRPr lang="en-SG"/>
          </a:p>
        </p:txBody>
      </p:sp>
    </p:spTree>
    <p:extLst>
      <p:ext uri="{BB962C8B-B14F-4D97-AF65-F5344CB8AC3E}">
        <p14:creationId xmlns:p14="http://schemas.microsoft.com/office/powerpoint/2010/main" val="295548744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E28A2C-51BE-433A-B619-F68B5A74B1F2}" type="datetimeFigureOut">
              <a:rPr lang="en-SG" smtClean="0"/>
              <a:t>20/10/2024</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FDCA9F-61FB-448D-9986-708F524BC7AC}" type="slidenum">
              <a:rPr lang="en-SG" smtClean="0"/>
              <a:t>‹#›</a:t>
            </a:fld>
            <a:endParaRPr lang="en-SG"/>
          </a:p>
        </p:txBody>
      </p:sp>
    </p:spTree>
    <p:extLst>
      <p:ext uri="{BB962C8B-B14F-4D97-AF65-F5344CB8AC3E}">
        <p14:creationId xmlns:p14="http://schemas.microsoft.com/office/powerpoint/2010/main" val="15491989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 Id="rId3" Type="http://schemas.openxmlformats.org/officeDocument/2006/relationships/image" Target="../media/image1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5.jpeg"/><Relationship Id="rId4" Type="http://schemas.openxmlformats.org/officeDocument/2006/relationships/image" Target="../media/image16.jpg"/><Relationship Id="rId5"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80084" y="2733576"/>
            <a:ext cx="5688529" cy="1039262"/>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28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MySilah — Inizio Global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28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User Journey Template for Integrating with UAE PASS Authentication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2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version 1.1</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28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434641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50670"/>
            <a:ext cx="10515600" cy="536575"/>
          </a:xfrm>
        </p:spPr>
        <p:txBody>
          <a:bodyPr>
            <a:noAutofit/>
          </a:bodyPr>
          <a:lstStyle/>
          <a:p>
            <a:r>
              <a:rPr lang="en-SG" sz="3600" u="sng" dirty="0"/>
              <a:t>Instructions</a:t>
            </a:r>
          </a:p>
        </p:txBody>
      </p:sp>
      <p:sp>
        <p:nvSpPr>
          <p:cNvPr id="3" name="Content Placeholder 2"/>
          <p:cNvSpPr>
            <a:spLocks noGrp="1"/>
          </p:cNvSpPr>
          <p:nvPr>
            <p:ph idx="1"/>
          </p:nvPr>
        </p:nvSpPr>
        <p:spPr>
          <a:xfrm>
            <a:off x="838200" y="1776046"/>
            <a:ext cx="10515600" cy="4269154"/>
          </a:xfrm>
        </p:spPr>
        <p:txBody>
          <a:bodyPr>
            <a:normAutofit/>
          </a:bodyPr>
          <a:lstStyle/>
          <a:p>
            <a:r>
              <a:rPr lang="en-SG" sz="2400" dirty="0"/>
              <a:t>This template document will guide you through creating your new user journey with UAE PASS.</a:t>
            </a:r>
          </a:p>
          <a:p>
            <a:endParaRPr lang="en-SG" sz="2400" dirty="0"/>
          </a:p>
          <a:p>
            <a:r>
              <a:rPr lang="en-SG" sz="2400" dirty="0"/>
              <a:t>Please use this template to show how you are integrating UAE PASS within your digital channel. </a:t>
            </a:r>
          </a:p>
          <a:p>
            <a:endParaRPr lang="en-SG" sz="2400" dirty="0"/>
          </a:p>
          <a:p>
            <a:r>
              <a:rPr lang="en-SG" sz="2400" dirty="0"/>
              <a:t>Please add English and Arabic version of each scenario  </a:t>
            </a:r>
          </a:p>
          <a:p>
            <a:endParaRPr lang="en-SG" sz="2400" dirty="0"/>
          </a:p>
          <a:p>
            <a:r>
              <a:rPr lang="en-SG" sz="2400" dirty="0"/>
              <a:t>Do submit your user journey in </a:t>
            </a:r>
            <a:r>
              <a:rPr lang="en-SG" sz="2400" b="1" dirty="0"/>
              <a:t>PDF format</a:t>
            </a:r>
            <a:r>
              <a:rPr lang="en-SG" sz="2400" dirty="0"/>
              <a:t>. Submissions that are not in this format will not be processed. </a:t>
            </a:r>
          </a:p>
          <a:p>
            <a:endParaRPr lang="en-SG" sz="2400" dirty="0"/>
          </a:p>
          <a:p>
            <a:endParaRPr lang="en-SG" sz="2400" dirty="0"/>
          </a:p>
          <a:p>
            <a:pPr marL="457200" lvl="1" indent="0">
              <a:buNone/>
            </a:pPr>
            <a:endParaRPr lang="en-SG" sz="2000" dirty="0">
              <a:solidFill>
                <a:schemeClr val="tx1">
                  <a:lumMod val="65000"/>
                  <a:lumOff val="35000"/>
                </a:schemeClr>
              </a:solidFill>
            </a:endParaRPr>
          </a:p>
        </p:txBody>
      </p:sp>
    </p:spTree>
    <p:extLst>
      <p:ext uri="{BB962C8B-B14F-4D97-AF65-F5344CB8AC3E}">
        <p14:creationId xmlns:p14="http://schemas.microsoft.com/office/powerpoint/2010/main" val="75433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734677" y="393827"/>
            <a:ext cx="10515600" cy="727781"/>
          </a:xfrm>
        </p:spPr>
        <p:txBody>
          <a:bodyPr/>
          <a:lstStyle/>
          <a:p>
            <a:r>
              <a:rPr lang="en-SG" u="sng" dirty="0"/>
              <a:t>Sign-in with UAE PASS </a:t>
            </a:r>
          </a:p>
        </p:txBody>
      </p:sp>
      <p:sp>
        <p:nvSpPr>
          <p:cNvPr id="6" name="Rectangle 5"/>
          <p:cNvSpPr/>
          <p:nvPr/>
        </p:nvSpPr>
        <p:spPr>
          <a:xfrm>
            <a:off x="734677" y="1420727"/>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p:cNvPicPr>
            <a:picLocks noChangeAspect="1"/>
          </p:cNvPicPr>
          <p:nvPr/>
        </p:nvPicPr>
        <p:blipFill rotWithShape="1">
          <a:blip r:embed="rId2"/>
          <a:srcRect b="7727"/>
          <a:stretch/>
        </p:blipFill>
        <p:spPr>
          <a:xfrm>
            <a:off x="7737231" y="1093296"/>
            <a:ext cx="3788869" cy="2582193"/>
          </a:xfrm>
          <a:prstGeom prst="rect">
            <a:avLst/>
          </a:prstGeom>
        </p:spPr>
      </p:pic>
      <p:pic>
        <p:nvPicPr>
          <p:cNvPr id="9" name="Picture 8"/>
          <p:cNvPicPr>
            <a:picLocks noChangeAspect="1"/>
          </p:cNvPicPr>
          <p:nvPr/>
        </p:nvPicPr>
        <p:blipFill rotWithShape="1">
          <a:blip r:embed="rId3"/>
          <a:srcRect b="8876"/>
          <a:stretch/>
        </p:blipFill>
        <p:spPr>
          <a:xfrm>
            <a:off x="8065410" y="3749405"/>
            <a:ext cx="1547240" cy="2836073"/>
          </a:xfrm>
          <a:prstGeom prst="rect">
            <a:avLst/>
          </a:prstGeom>
        </p:spPr>
      </p:pic>
      <p:pic>
        <p:nvPicPr>
          <p:cNvPr id="10" name="Picture 9"/>
          <p:cNvPicPr>
            <a:picLocks noChangeAspect="1"/>
          </p:cNvPicPr>
          <p:nvPr/>
        </p:nvPicPr>
        <p:blipFill>
          <a:blip r:embed="rId4"/>
          <a:stretch>
            <a:fillRect/>
          </a:stretch>
        </p:blipFill>
        <p:spPr>
          <a:xfrm>
            <a:off x="9741876" y="3797398"/>
            <a:ext cx="1456581" cy="2717768"/>
          </a:xfrm>
          <a:prstGeom prst="rect">
            <a:avLst/>
          </a:prstGeom>
        </p:spPr>
      </p:pic>
      <p:pic>
        <p:nvPicPr>
          <p:cNvPr id="11" name="Picture 10" descr="11.png"/>
          <p:cNvPicPr>
            <a:picLocks noChangeAspect="1"/>
          </p:cNvPicPr>
          <p:nvPr/>
        </p:nvPicPr>
        <p:blipFill>
          <a:blip r:embed="rId5"/>
          <a:stretch>
            <a:fillRect/>
          </a:stretch>
        </p:blipFill>
        <p:spPr>
          <a:xfrm>
            <a:off x="1342777" y="1417320"/>
            <a:ext cx="5406886" cy="3108960"/>
          </a:xfrm>
          <a:prstGeom prst="rect">
            <a:avLst/>
          </a:prstGeom>
        </p:spPr>
      </p:pic>
      <p:sp>
        <p:nvSpPr>
          <p:cNvPr id="12" name="TextBox 11"/>
          <p:cNvSpPr txBox="1"/>
          <p:nvPr/>
        </p:nvSpPr>
        <p:spPr>
          <a:xfrm>
            <a:off x="731520" y="4617720"/>
            <a:ext cx="6629400" cy="457200"/>
          </a:xfrm>
          <a:prstGeom prst="rect">
            <a:avLst/>
          </a:prstGeom>
          <a:noFill/>
        </p:spPr>
        <p:txBody>
          <a:bodyPr wrap="square">
            <a:spAutoFit/>
          </a:bodyPr>
          <a:lstStyle/>
          <a:p>
            <a:pPr algn="l"/>
            <a:r>
              <a:rPr sz="800" b="0">
                <a:solidFill>
                  <a:srgbClr val="14142E"/>
                </a:solidFill>
              </a:rPr>
              <a:t>EN: User visits app.mysilah.ae/login. Clicks "Sign in with UAE PASS" button to initiate UAE PASS OIDC authentication flow.</a:t>
            </a:r>
          </a:p>
        </p:txBody>
      </p:sp>
      <p:sp>
        <p:nvSpPr>
          <p:cNvPr id="13" name="TextBox 12"/>
          <p:cNvSpPr txBox="1"/>
          <p:nvPr/>
        </p:nvSpPr>
        <p:spPr>
          <a:xfrm>
            <a:off x="731520" y="5102352"/>
            <a:ext cx="6629400" cy="457200"/>
          </a:xfrm>
          <a:prstGeom prst="rect">
            <a:avLst/>
          </a:prstGeom>
          <a:noFill/>
        </p:spPr>
        <p:txBody>
          <a:bodyPr wrap="square">
            <a:spAutoFit/>
          </a:bodyPr>
          <a:lstStyle/>
          <a:p>
            <a:pPr algn="l"/>
            <a:r>
              <a:rPr sz="800" b="0">
                <a:solidFill>
                  <a:srgbClr val="14142E"/>
                </a:solidFill>
              </a:rPr>
              <a:t>AR: يزور المستخدم صفحة تسجيل الدخول ويضغط على زر "تسجيل الدخول عبر UAE PASS" لبدء عملية المصادقة عبر UAE PASS.</a:t>
            </a:r>
          </a:p>
        </p:txBody>
      </p:sp>
    </p:spTree>
    <p:extLst>
      <p:ext uri="{BB962C8B-B14F-4D97-AF65-F5344CB8AC3E}">
        <p14:creationId xmlns:p14="http://schemas.microsoft.com/office/powerpoint/2010/main" val="1172568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90715" y="369638"/>
            <a:ext cx="10515600" cy="727781"/>
          </a:xfrm>
        </p:spPr>
        <p:txBody>
          <a:bodyPr/>
          <a:lstStyle/>
          <a:p>
            <a:r>
              <a:rPr lang="en-SG" u="sng" dirty="0"/>
              <a:t>Sign up with UAE PASS (Authentication) If applicable </a:t>
            </a:r>
          </a:p>
        </p:txBody>
      </p:sp>
      <p:sp>
        <p:nvSpPr>
          <p:cNvPr id="6" name="Rectangle 5"/>
          <p:cNvSpPr/>
          <p:nvPr/>
        </p:nvSpPr>
        <p:spPr>
          <a:xfrm>
            <a:off x="690715" y="1517443"/>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p:cNvPicPr>
            <a:picLocks noChangeAspect="1"/>
          </p:cNvPicPr>
          <p:nvPr/>
        </p:nvPicPr>
        <p:blipFill>
          <a:blip r:embed="rId2"/>
          <a:stretch>
            <a:fillRect/>
          </a:stretch>
        </p:blipFill>
        <p:spPr>
          <a:xfrm>
            <a:off x="9458786" y="2096224"/>
            <a:ext cx="2569092" cy="1680661"/>
          </a:xfrm>
          <a:prstGeom prst="rect">
            <a:avLst/>
          </a:prstGeom>
        </p:spPr>
      </p:pic>
      <p:pic>
        <p:nvPicPr>
          <p:cNvPr id="9" name="Picture 8"/>
          <p:cNvPicPr>
            <a:picLocks noChangeAspect="1"/>
          </p:cNvPicPr>
          <p:nvPr/>
        </p:nvPicPr>
        <p:blipFill>
          <a:blip r:embed="rId3"/>
          <a:stretch>
            <a:fillRect/>
          </a:stretch>
        </p:blipFill>
        <p:spPr>
          <a:xfrm>
            <a:off x="9458786" y="3842238"/>
            <a:ext cx="2639429" cy="1784839"/>
          </a:xfrm>
          <a:prstGeom prst="rect">
            <a:avLst/>
          </a:prstGeom>
        </p:spPr>
      </p:pic>
      <p:pic>
        <p:nvPicPr>
          <p:cNvPr id="10" name="Picture 9"/>
          <p:cNvPicPr>
            <a:picLocks noChangeAspect="1"/>
          </p:cNvPicPr>
          <p:nvPr/>
        </p:nvPicPr>
        <p:blipFill>
          <a:blip r:embed="rId4"/>
          <a:stretch>
            <a:fillRect/>
          </a:stretch>
        </p:blipFill>
        <p:spPr>
          <a:xfrm>
            <a:off x="7490704" y="2096224"/>
            <a:ext cx="1968082" cy="3676377"/>
          </a:xfrm>
          <a:prstGeom prst="rect">
            <a:avLst/>
          </a:prstGeom>
        </p:spPr>
      </p:pic>
      <p:pic>
        <p:nvPicPr>
          <p:cNvPr id="11" name="Picture 10" descr="12.png"/>
          <p:cNvPicPr>
            <a:picLocks noChangeAspect="1"/>
          </p:cNvPicPr>
          <p:nvPr/>
        </p:nvPicPr>
        <p:blipFill>
          <a:blip r:embed="rId5"/>
          <a:stretch>
            <a:fillRect/>
          </a:stretch>
        </p:blipFill>
        <p:spPr>
          <a:xfrm>
            <a:off x="1392312" y="1508760"/>
            <a:ext cx="5216375" cy="3108960"/>
          </a:xfrm>
          <a:prstGeom prst="rect">
            <a:avLst/>
          </a:prstGeom>
        </p:spPr>
      </p:pic>
      <p:sp>
        <p:nvSpPr>
          <p:cNvPr id="12" name="TextBox 11"/>
          <p:cNvSpPr txBox="1"/>
          <p:nvPr/>
        </p:nvSpPr>
        <p:spPr>
          <a:xfrm>
            <a:off x="685800" y="4663440"/>
            <a:ext cx="6629400" cy="457200"/>
          </a:xfrm>
          <a:prstGeom prst="rect">
            <a:avLst/>
          </a:prstGeom>
          <a:noFill/>
        </p:spPr>
        <p:txBody>
          <a:bodyPr wrap="square">
            <a:spAutoFit/>
          </a:bodyPr>
          <a:lstStyle/>
          <a:p>
            <a:pPr algn="l"/>
            <a:r>
              <a:rPr sz="800" b="0">
                <a:solidFill>
                  <a:srgbClr val="14142E"/>
                </a:solidFill>
              </a:rPr>
              <a:t>EN: New user visits app.mysilah.ae/register. Clicks "Sign in with UAE PASS" for instant verification via Emirates ID. MySilah auto-creates the Agent account upon successful verification.</a:t>
            </a:r>
          </a:p>
        </p:txBody>
      </p:sp>
      <p:sp>
        <p:nvSpPr>
          <p:cNvPr id="13" name="TextBox 12"/>
          <p:cNvSpPr txBox="1"/>
          <p:nvPr/>
        </p:nvSpPr>
        <p:spPr>
          <a:xfrm>
            <a:off x="685800" y="5148072"/>
            <a:ext cx="6629400" cy="457200"/>
          </a:xfrm>
          <a:prstGeom prst="rect">
            <a:avLst/>
          </a:prstGeom>
          <a:noFill/>
        </p:spPr>
        <p:txBody>
          <a:bodyPr wrap="square">
            <a:spAutoFit/>
          </a:bodyPr>
          <a:lstStyle/>
          <a:p>
            <a:pPr algn="l"/>
            <a:r>
              <a:rPr sz="800" b="0">
                <a:solidFill>
                  <a:srgbClr val="14142E"/>
                </a:solidFill>
              </a:rPr>
              <a:t>AR: يزور المستخدم الجديد صفحة التسجيل ويضغط "تسجيل الدخول عبر UAE PASS" للتحقق الفوري عبر الهوية الإماراتية. تُنشئ MySilah حساب الوكيل تلقائياً عند نجاح التحقق.</a:t>
            </a:r>
          </a:p>
        </p:txBody>
      </p:sp>
    </p:spTree>
    <p:extLst>
      <p:ext uri="{BB962C8B-B14F-4D97-AF65-F5344CB8AC3E}">
        <p14:creationId xmlns:p14="http://schemas.microsoft.com/office/powerpoint/2010/main" val="457447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42748" y="360639"/>
            <a:ext cx="10515600" cy="536575"/>
          </a:xfrm>
        </p:spPr>
        <p:txBody>
          <a:bodyPr>
            <a:normAutofit/>
          </a:bodyPr>
          <a:lstStyle/>
          <a:p>
            <a:r>
              <a:rPr lang="en-SG" u="sng" dirty="0"/>
              <a:t> Redirection to UAE PASS Login page (WEB)</a:t>
            </a:r>
            <a:endParaRPr lang="en-SG" dirty="0"/>
          </a:p>
        </p:txBody>
      </p:sp>
      <p:pic>
        <p:nvPicPr>
          <p:cNvPr id="5" name="Picture 4">
            <a:extLst>
              <a:ext uri="{FF2B5EF4-FFF2-40B4-BE49-F238E27FC236}">
                <a16:creationId xmlns:a16="http://schemas.microsoft.com/office/drawing/2014/main" id="{E3E067DF-6F0E-7349-F903-CABF034CB5A8}"/>
              </a:ext>
            </a:extLst>
          </p:cNvPr>
          <p:cNvPicPr>
            <a:picLocks noChangeAspect="1"/>
          </p:cNvPicPr>
          <p:nvPr/>
        </p:nvPicPr>
        <p:blipFill>
          <a:blip r:embed="rId2"/>
          <a:stretch>
            <a:fillRect/>
          </a:stretch>
        </p:blipFill>
        <p:spPr>
          <a:xfrm>
            <a:off x="360191" y="897214"/>
            <a:ext cx="5052807" cy="3759499"/>
          </a:xfrm>
          <a:prstGeom prst="rect">
            <a:avLst/>
          </a:prstGeom>
        </p:spPr>
      </p:pic>
      <p:pic>
        <p:nvPicPr>
          <p:cNvPr id="6" name="Picture 5">
            <a:extLst>
              <a:ext uri="{FF2B5EF4-FFF2-40B4-BE49-F238E27FC236}">
                <a16:creationId xmlns:a16="http://schemas.microsoft.com/office/drawing/2014/main" id="{FEFA911D-1326-0171-7DF4-73ED770D12EB}"/>
              </a:ext>
            </a:extLst>
          </p:cNvPr>
          <p:cNvPicPr>
            <a:picLocks noChangeAspect="1"/>
          </p:cNvPicPr>
          <p:nvPr/>
        </p:nvPicPr>
        <p:blipFill>
          <a:blip r:embed="rId3"/>
          <a:stretch>
            <a:fillRect/>
          </a:stretch>
        </p:blipFill>
        <p:spPr>
          <a:xfrm>
            <a:off x="3738398" y="1201799"/>
            <a:ext cx="6291840" cy="3888215"/>
          </a:xfrm>
          <a:prstGeom prst="rect">
            <a:avLst/>
          </a:prstGeom>
        </p:spPr>
      </p:pic>
      <p:grpSp>
        <p:nvGrpSpPr>
          <p:cNvPr id="7" name="Group 6"/>
          <p:cNvGrpSpPr/>
          <p:nvPr/>
        </p:nvGrpSpPr>
        <p:grpSpPr>
          <a:xfrm>
            <a:off x="9120728" y="2428875"/>
            <a:ext cx="1680622" cy="4166358"/>
            <a:chOff x="8642837" y="1138807"/>
            <a:chExt cx="2066670" cy="4753341"/>
          </a:xfrm>
        </p:grpSpPr>
        <p:pic>
          <p:nvPicPr>
            <p:cNvPr id="8" name="Picture 7" descr="A screenshot of a phone&#10;&#10;Description automatically generated">
              <a:extLst>
                <a:ext uri="{FF2B5EF4-FFF2-40B4-BE49-F238E27FC236}">
                  <a16:creationId xmlns:a16="http://schemas.microsoft.com/office/drawing/2014/main" id="{5F278699-D48E-9E58-55D9-C59A85F3A8D1}"/>
                </a:ext>
              </a:extLst>
            </p:cNvPr>
            <p:cNvPicPr>
              <a:picLocks noChangeAspect="1"/>
            </p:cNvPicPr>
            <p:nvPr/>
          </p:nvPicPr>
          <p:blipFill>
            <a:blip r:embed="rId4"/>
            <a:stretch>
              <a:fillRect/>
            </a:stretch>
          </p:blipFill>
          <p:spPr>
            <a:xfrm>
              <a:off x="8642837" y="1138807"/>
              <a:ext cx="2066670" cy="4753341"/>
            </a:xfrm>
            <a:prstGeom prst="rect">
              <a:avLst/>
            </a:prstGeom>
          </p:spPr>
        </p:pic>
        <p:sp>
          <p:nvSpPr>
            <p:cNvPr id="9" name="Rectangle 8"/>
            <p:cNvSpPr/>
            <p:nvPr/>
          </p:nvSpPr>
          <p:spPr>
            <a:xfrm>
              <a:off x="8968154" y="2312377"/>
              <a:ext cx="1582615" cy="43961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p:cNvSpPr txBox="1"/>
          <p:nvPr/>
        </p:nvSpPr>
        <p:spPr>
          <a:xfrm>
            <a:off x="274320" y="4800600"/>
            <a:ext cx="10972800" cy="411480"/>
          </a:xfrm>
          <a:prstGeom prst="rect">
            <a:avLst/>
          </a:prstGeom>
          <a:noFill/>
        </p:spPr>
        <p:txBody>
          <a:bodyPr wrap="square">
            <a:spAutoFit/>
          </a:bodyPr>
          <a:lstStyle/>
          <a:p>
            <a:pPr algn="l"/>
            <a:r>
              <a:rPr sz="800" b="0">
                <a:solidFill>
                  <a:srgbClr val="3C3C64"/>
                </a:solidFill>
              </a:rPr>
              <a:t>Step 1: Enter credentials (mobile / Emirates ID / email)   |   Step 2: Browser shows number code — wait for app   |   Step 3: Select matching number in UAE PASS app + confirm PIN/Face ID</a:t>
            </a:r>
          </a:p>
        </p:txBody>
      </p:sp>
      <p:sp>
        <p:nvSpPr>
          <p:cNvPr id="11" name="TextBox 10"/>
          <p:cNvSpPr txBox="1"/>
          <p:nvPr/>
        </p:nvSpPr>
        <p:spPr>
          <a:xfrm>
            <a:off x="274320" y="5230368"/>
            <a:ext cx="10972800" cy="411480"/>
          </a:xfrm>
          <a:prstGeom prst="rect">
            <a:avLst/>
          </a:prstGeom>
          <a:noFill/>
        </p:spPr>
        <p:txBody>
          <a:bodyPr wrap="square">
            <a:spAutoFit/>
          </a:bodyPr>
          <a:lstStyle/>
          <a:p>
            <a:pPr algn="l"/>
            <a:r>
              <a:rPr sz="750" b="0">
                <a:solidFill>
                  <a:srgbClr val="14142E"/>
                </a:solidFill>
              </a:rPr>
              <a:t>EN: User enters UAE PASS credentials on the web portal. Browser displays a polling page with a number code. User receives a push notification on UAE PASS mobile app, selects the matching number, and confirms with PIN or Face ID.</a:t>
            </a:r>
          </a:p>
        </p:txBody>
      </p:sp>
      <p:sp>
        <p:nvSpPr>
          <p:cNvPr id="12" name="TextBox 11"/>
          <p:cNvSpPr txBox="1"/>
          <p:nvPr/>
        </p:nvSpPr>
        <p:spPr>
          <a:xfrm>
            <a:off x="274320" y="5650992"/>
            <a:ext cx="10972800" cy="411480"/>
          </a:xfrm>
          <a:prstGeom prst="rect">
            <a:avLst/>
          </a:prstGeom>
          <a:noFill/>
        </p:spPr>
        <p:txBody>
          <a:bodyPr wrap="square">
            <a:spAutoFit/>
          </a:bodyPr>
          <a:lstStyle/>
          <a:p>
            <a:pPr algn="l"/>
            <a:r>
              <a:rPr sz="750" b="0">
                <a:solidFill>
                  <a:srgbClr val="14142E"/>
                </a:solidFill>
              </a:rPr>
              <a:t>AR: يدخل المستخدم بياناته على بوابة UAE PASS. يعرض المتصفح رمزاً رقمياً. يتلقى المستخدم إشعاراً على تطبيق UAE PASS، يختار الرقم المطابق ويؤكد بـ PIN أو Face ID.</a:t>
            </a:r>
          </a:p>
        </p:txBody>
      </p:sp>
    </p:spTree>
    <p:extLst>
      <p:ext uri="{BB962C8B-B14F-4D97-AF65-F5344CB8AC3E}">
        <p14:creationId xmlns:p14="http://schemas.microsoft.com/office/powerpoint/2010/main" val="2661083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42748" y="360639"/>
            <a:ext cx="10515600" cy="536575"/>
          </a:xfrm>
        </p:spPr>
        <p:txBody>
          <a:bodyPr>
            <a:normAutofit/>
          </a:bodyPr>
          <a:lstStyle/>
          <a:p>
            <a:r>
              <a:rPr lang="en-SG" u="sng" dirty="0"/>
              <a:t> OR Redirection to UAE PASS Login page (App)</a:t>
            </a:r>
            <a:endParaRPr lang="en-SG"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2895" y="1247774"/>
            <a:ext cx="2252417" cy="4886601"/>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1870" y="1247774"/>
            <a:ext cx="2252417" cy="4886601"/>
          </a:xfrm>
          <a:prstGeom prst="rect">
            <a:avLst/>
          </a:prstGeom>
          <a:ln>
            <a:solidFill>
              <a:schemeClr val="bg1">
                <a:lumMod val="85000"/>
              </a:schemeClr>
            </a:solidFill>
          </a:ln>
        </p:spPr>
      </p:pic>
      <p:sp>
        <p:nvSpPr>
          <p:cNvPr id="9" name="TextBox 8"/>
          <p:cNvSpPr txBox="1"/>
          <p:nvPr/>
        </p:nvSpPr>
        <p:spPr>
          <a:xfrm>
            <a:off x="3200400" y="2560320"/>
            <a:ext cx="5486400" cy="1828800"/>
          </a:xfrm>
          <a:prstGeom prst="rect">
            <a:avLst/>
          </a:prstGeom>
          <a:noFill/>
        </p:spPr>
        <p:txBody>
          <a:bodyPr wrap="square">
            <a:spAutoFit/>
          </a:bodyPr>
          <a:lstStyle/>
          <a:p>
            <a:pPr algn="ctr"/>
            <a:r>
              <a:rPr sz="1200" b="0">
                <a:solidFill>
                  <a:srgbClr val="14142E"/>
                </a:solidFill>
              </a:rPr>
              <a:t>Not Applicable
MySilah is a web-only platform. No native mobile application exists.
غير منطبق
MySilah منصة ويب فقط. لا يوجد تطبيق جوال.</a:t>
            </a:r>
          </a:p>
        </p:txBody>
      </p:sp>
    </p:spTree>
    <p:extLst>
      <p:ext uri="{BB962C8B-B14F-4D97-AF65-F5344CB8AC3E}">
        <p14:creationId xmlns:p14="http://schemas.microsoft.com/office/powerpoint/2010/main" val="502777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079" y="326205"/>
            <a:ext cx="10515600" cy="536575"/>
          </a:xfrm>
        </p:spPr>
        <p:txBody>
          <a:bodyPr>
            <a:normAutofit/>
          </a:bodyPr>
          <a:lstStyle/>
          <a:p>
            <a:r>
              <a:rPr lang="en-SG" u="sng" dirty="0"/>
              <a:t>SOP1 scenario (If applicable)</a:t>
            </a:r>
            <a:endParaRPr lang="en-SG" dirty="0"/>
          </a:p>
        </p:txBody>
      </p:sp>
      <p:sp>
        <p:nvSpPr>
          <p:cNvPr id="6" name="Rectangle 5"/>
          <p:cNvSpPr/>
          <p:nvPr/>
        </p:nvSpPr>
        <p:spPr>
          <a:xfrm>
            <a:off x="2382340" y="1208088"/>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12.png"/>
          <p:cNvPicPr>
            <a:picLocks noChangeAspect="1"/>
          </p:cNvPicPr>
          <p:nvPr/>
        </p:nvPicPr>
        <p:blipFill>
          <a:blip r:embed="rId2"/>
          <a:stretch>
            <a:fillRect/>
          </a:stretch>
        </p:blipFill>
        <p:spPr>
          <a:xfrm>
            <a:off x="2377440" y="2520818"/>
            <a:ext cx="3108960" cy="1852940"/>
          </a:xfrm>
          <a:prstGeom prst="rect">
            <a:avLst/>
          </a:prstGeom>
        </p:spPr>
      </p:pic>
      <p:pic>
        <p:nvPicPr>
          <p:cNvPr id="8" name="Picture 7" descr="20.png"/>
          <p:cNvPicPr>
            <a:picLocks noChangeAspect="1"/>
          </p:cNvPicPr>
          <p:nvPr/>
        </p:nvPicPr>
        <p:blipFill>
          <a:blip r:embed="rId3"/>
          <a:stretch>
            <a:fillRect/>
          </a:stretch>
        </p:blipFill>
        <p:spPr>
          <a:xfrm>
            <a:off x="5577840" y="2462708"/>
            <a:ext cx="3337560" cy="1969160"/>
          </a:xfrm>
          <a:prstGeom prst="rect">
            <a:avLst/>
          </a:prstGeom>
        </p:spPr>
      </p:pic>
      <p:sp>
        <p:nvSpPr>
          <p:cNvPr id="9" name="TextBox 8"/>
          <p:cNvSpPr txBox="1"/>
          <p:nvPr/>
        </p:nvSpPr>
        <p:spPr>
          <a:xfrm>
            <a:off x="2377440" y="5806440"/>
            <a:ext cx="6629400" cy="411480"/>
          </a:xfrm>
          <a:prstGeom prst="rect">
            <a:avLst/>
          </a:prstGeom>
          <a:noFill/>
        </p:spPr>
        <p:txBody>
          <a:bodyPr wrap="square">
            <a:spAutoFit/>
          </a:bodyPr>
          <a:lstStyle/>
          <a:p>
            <a:pPr algn="l"/>
            <a:r>
              <a:rPr sz="750" b="0">
                <a:solidFill>
                  <a:srgbClr val="14142E"/>
                </a:solidFill>
              </a:rPr>
              <a:t>EN: New user clicks "Sign in with UAE PASS" on registration page → UAE PASS verifies identity → MySilah auto-creates Agent account using verified data → User lands on Agent Dashboard.</a:t>
            </a:r>
          </a:p>
        </p:txBody>
      </p:sp>
      <p:sp>
        <p:nvSpPr>
          <p:cNvPr id="10" name="TextBox 9"/>
          <p:cNvSpPr txBox="1"/>
          <p:nvPr/>
        </p:nvSpPr>
        <p:spPr>
          <a:xfrm>
            <a:off x="2377440" y="6245352"/>
            <a:ext cx="6629400" cy="365760"/>
          </a:xfrm>
          <a:prstGeom prst="rect">
            <a:avLst/>
          </a:prstGeom>
          <a:noFill/>
        </p:spPr>
        <p:txBody>
          <a:bodyPr wrap="square">
            <a:spAutoFit/>
          </a:bodyPr>
          <a:lstStyle/>
          <a:p>
            <a:pPr algn="l"/>
            <a:r>
              <a:rPr sz="750" b="0">
                <a:solidFill>
                  <a:srgbClr val="14142E"/>
                </a:solidFill>
              </a:rPr>
              <a:t>AR: يضغط المستخدم الجديد على UAE PASS في التسجيل ← يتحقق UAE PASS من الهوية ← تُنشئ MySilah حساب الوكيل تلقائياً ← يصل المستخدم إلى لوحة التحكم.</a:t>
            </a:r>
          </a:p>
        </p:txBody>
      </p:sp>
    </p:spTree>
    <p:extLst>
      <p:ext uri="{BB962C8B-B14F-4D97-AF65-F5344CB8AC3E}">
        <p14:creationId xmlns:p14="http://schemas.microsoft.com/office/powerpoint/2010/main" val="360118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079" y="370450"/>
            <a:ext cx="10515600" cy="536575"/>
          </a:xfrm>
        </p:spPr>
        <p:txBody>
          <a:bodyPr>
            <a:normAutofit/>
          </a:bodyPr>
          <a:lstStyle/>
          <a:p>
            <a:r>
              <a:rPr lang="en-SG" u="sng" dirty="0"/>
              <a:t>SOP2 scenario (If applicable)</a:t>
            </a:r>
            <a:endParaRPr lang="en-SG" dirty="0"/>
          </a:p>
        </p:txBody>
      </p:sp>
      <p:sp>
        <p:nvSpPr>
          <p:cNvPr id="6" name="Rectangle 5"/>
          <p:cNvSpPr/>
          <p:nvPr/>
        </p:nvSpPr>
        <p:spPr>
          <a:xfrm>
            <a:off x="2382340" y="1208088"/>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11.png"/>
          <p:cNvPicPr>
            <a:picLocks noChangeAspect="1"/>
          </p:cNvPicPr>
          <p:nvPr/>
        </p:nvPicPr>
        <p:blipFill>
          <a:blip r:embed="rId2"/>
          <a:stretch>
            <a:fillRect/>
          </a:stretch>
        </p:blipFill>
        <p:spPr>
          <a:xfrm>
            <a:off x="2377440" y="2553462"/>
            <a:ext cx="3108960" cy="1787652"/>
          </a:xfrm>
          <a:prstGeom prst="rect">
            <a:avLst/>
          </a:prstGeom>
        </p:spPr>
      </p:pic>
      <p:pic>
        <p:nvPicPr>
          <p:cNvPr id="8" name="Picture 7" descr="20.png"/>
          <p:cNvPicPr>
            <a:picLocks noChangeAspect="1"/>
          </p:cNvPicPr>
          <p:nvPr/>
        </p:nvPicPr>
        <p:blipFill>
          <a:blip r:embed="rId3"/>
          <a:stretch>
            <a:fillRect/>
          </a:stretch>
        </p:blipFill>
        <p:spPr>
          <a:xfrm>
            <a:off x="5577840" y="2462708"/>
            <a:ext cx="3337560" cy="1969160"/>
          </a:xfrm>
          <a:prstGeom prst="rect">
            <a:avLst/>
          </a:prstGeom>
        </p:spPr>
      </p:pic>
      <p:sp>
        <p:nvSpPr>
          <p:cNvPr id="9" name="TextBox 8"/>
          <p:cNvSpPr txBox="1"/>
          <p:nvPr/>
        </p:nvSpPr>
        <p:spPr>
          <a:xfrm>
            <a:off x="2377440" y="5806440"/>
            <a:ext cx="6629400" cy="411480"/>
          </a:xfrm>
          <a:prstGeom prst="rect">
            <a:avLst/>
          </a:prstGeom>
          <a:noFill/>
        </p:spPr>
        <p:txBody>
          <a:bodyPr wrap="square">
            <a:spAutoFit/>
          </a:bodyPr>
          <a:lstStyle/>
          <a:p>
            <a:pPr algn="l"/>
            <a:r>
              <a:rPr sz="750" b="0">
                <a:solidFill>
                  <a:srgbClr val="14142E"/>
                </a:solidFill>
              </a:rPr>
              <a:t>EN: Existing MySilah user clicks "Sign in with UAE PASS" on login page → UAE PASS authenticates → System recognises linked account by UAE PASS UUID → User logged in directly to Agent Dashboard.</a:t>
            </a:r>
          </a:p>
        </p:txBody>
      </p:sp>
      <p:sp>
        <p:nvSpPr>
          <p:cNvPr id="10" name="TextBox 9"/>
          <p:cNvSpPr txBox="1"/>
          <p:nvPr/>
        </p:nvSpPr>
        <p:spPr>
          <a:xfrm>
            <a:off x="2377440" y="6245352"/>
            <a:ext cx="6629400" cy="365760"/>
          </a:xfrm>
          <a:prstGeom prst="rect">
            <a:avLst/>
          </a:prstGeom>
          <a:noFill/>
        </p:spPr>
        <p:txBody>
          <a:bodyPr wrap="square">
            <a:spAutoFit/>
          </a:bodyPr>
          <a:lstStyle/>
          <a:p>
            <a:pPr algn="l"/>
            <a:r>
              <a:rPr sz="750" b="0">
                <a:solidFill>
                  <a:srgbClr val="14142E"/>
                </a:solidFill>
              </a:rPr>
              <a:t>AR: يضغط المستخدم الحالي على UAE PASS في تسجيل الدخول ← يتم التحقق ← يتعرف النظام على الحساب المرتبط ← تسجيل الدخول المباشر إلى لوحة التحكم.</a:t>
            </a:r>
          </a:p>
        </p:txBody>
      </p:sp>
    </p:spTree>
    <p:extLst>
      <p:ext uri="{BB962C8B-B14F-4D97-AF65-F5344CB8AC3E}">
        <p14:creationId xmlns:p14="http://schemas.microsoft.com/office/powerpoint/2010/main" val="4165616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079" y="311457"/>
            <a:ext cx="10515600" cy="536575"/>
          </a:xfrm>
        </p:spPr>
        <p:txBody>
          <a:bodyPr>
            <a:normAutofit/>
          </a:bodyPr>
          <a:lstStyle/>
          <a:p>
            <a:r>
              <a:rPr lang="en-SG" u="sng" dirty="0"/>
              <a:t>SOP3 scenario</a:t>
            </a:r>
            <a:endParaRPr lang="en-SG" dirty="0"/>
          </a:p>
        </p:txBody>
      </p:sp>
      <p:sp>
        <p:nvSpPr>
          <p:cNvPr id="6" name="Rectangle 5"/>
          <p:cNvSpPr/>
          <p:nvPr/>
        </p:nvSpPr>
        <p:spPr>
          <a:xfrm>
            <a:off x="2382340" y="1208088"/>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20.png"/>
          <p:cNvPicPr>
            <a:picLocks noChangeAspect="1"/>
          </p:cNvPicPr>
          <p:nvPr/>
        </p:nvPicPr>
        <p:blipFill>
          <a:blip r:embed="rId2"/>
          <a:stretch>
            <a:fillRect/>
          </a:stretch>
        </p:blipFill>
        <p:spPr>
          <a:xfrm>
            <a:off x="2377440" y="1491615"/>
            <a:ext cx="6629400" cy="3911346"/>
          </a:xfrm>
          <a:prstGeom prst="rect">
            <a:avLst/>
          </a:prstGeom>
        </p:spPr>
      </p:pic>
      <p:sp>
        <p:nvSpPr>
          <p:cNvPr id="8" name="TextBox 7"/>
          <p:cNvSpPr txBox="1"/>
          <p:nvPr/>
        </p:nvSpPr>
        <p:spPr>
          <a:xfrm>
            <a:off x="2377440" y="5806440"/>
            <a:ext cx="6629400" cy="411480"/>
          </a:xfrm>
          <a:prstGeom prst="rect">
            <a:avLst/>
          </a:prstGeom>
          <a:noFill/>
        </p:spPr>
        <p:txBody>
          <a:bodyPr wrap="square">
            <a:spAutoFit/>
          </a:bodyPr>
          <a:lstStyle/>
          <a:p>
            <a:pPr algn="l"/>
            <a:r>
              <a:rPr sz="750" b="0">
                <a:solidFill>
                  <a:srgbClr val="14142E"/>
                </a:solidFill>
              </a:rPr>
              <a:t>EN: Upon successful UAE PASS authentication, the user lands on the MySilah Agent Dashboard displaying their name, referral code, payout summary, active cases, and recent leads.</a:t>
            </a:r>
          </a:p>
        </p:txBody>
      </p:sp>
      <p:sp>
        <p:nvSpPr>
          <p:cNvPr id="9" name="TextBox 8"/>
          <p:cNvSpPr txBox="1"/>
          <p:nvPr/>
        </p:nvSpPr>
        <p:spPr>
          <a:xfrm>
            <a:off x="2377440" y="6245352"/>
            <a:ext cx="6629400" cy="365760"/>
          </a:xfrm>
          <a:prstGeom prst="rect">
            <a:avLst/>
          </a:prstGeom>
          <a:noFill/>
        </p:spPr>
        <p:txBody>
          <a:bodyPr wrap="square">
            <a:spAutoFit/>
          </a:bodyPr>
          <a:lstStyle/>
          <a:p>
            <a:pPr algn="l"/>
            <a:r>
              <a:rPr sz="750" b="0">
                <a:solidFill>
                  <a:srgbClr val="14142E"/>
                </a:solidFill>
              </a:rPr>
              <a:t>AR: بعد نجاح مصادقة UAE PASS، يصل المستخدم إلى لوحة تحكم المندوب التي تعرض الاسم ورمز الإحالة وملخص المكافآت والحالات النشطة والعملاء الأخيرين.</a:t>
            </a:r>
          </a:p>
        </p:txBody>
      </p:sp>
    </p:spTree>
    <p:extLst>
      <p:ext uri="{BB962C8B-B14F-4D97-AF65-F5344CB8AC3E}">
        <p14:creationId xmlns:p14="http://schemas.microsoft.com/office/powerpoint/2010/main" val="292752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79" y="203681"/>
            <a:ext cx="10515600" cy="536575"/>
          </a:xfrm>
        </p:spPr>
        <p:txBody>
          <a:bodyPr>
            <a:normAutofit/>
          </a:bodyPr>
          <a:lstStyle/>
          <a:p>
            <a:r>
              <a:rPr lang="en-US" u="sng" dirty="0"/>
              <a:t>Manual linking page </a:t>
            </a:r>
            <a:r>
              <a:rPr lang="en-SG" sz="2000" dirty="0">
                <a:solidFill>
                  <a:schemeClr val="bg1">
                    <a:lumMod val="50000"/>
                  </a:schemeClr>
                </a:solidFill>
              </a:rPr>
              <a:t>(if applicable)</a:t>
            </a:r>
            <a:endParaRPr lang="en-US" dirty="0">
              <a:solidFill>
                <a:schemeClr val="bg2">
                  <a:lumMod val="50000"/>
                </a:schemeClr>
              </a:solidFill>
            </a:endParaRPr>
          </a:p>
        </p:txBody>
      </p:sp>
      <p:sp>
        <p:nvSpPr>
          <p:cNvPr id="6" name="Rectangle 5"/>
          <p:cNvSpPr/>
          <p:nvPr/>
        </p:nvSpPr>
        <p:spPr>
          <a:xfrm>
            <a:off x="434879" y="1303908"/>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rotWithShape="1">
          <a:blip r:embed="rId2"/>
          <a:srcRect b="50080"/>
          <a:stretch/>
        </p:blipFill>
        <p:spPr>
          <a:xfrm>
            <a:off x="7632312" y="1798478"/>
            <a:ext cx="4128865" cy="3757170"/>
          </a:xfrm>
          <a:prstGeom prst="rect">
            <a:avLst/>
          </a:prstGeom>
        </p:spPr>
      </p:pic>
      <p:sp>
        <p:nvSpPr>
          <p:cNvPr id="7" name="TextBox 6"/>
          <p:cNvSpPr txBox="1"/>
          <p:nvPr/>
        </p:nvSpPr>
        <p:spPr>
          <a:xfrm>
            <a:off x="429768" y="2560320"/>
            <a:ext cx="6629400" cy="1828800"/>
          </a:xfrm>
          <a:prstGeom prst="rect">
            <a:avLst/>
          </a:prstGeom>
          <a:noFill/>
        </p:spPr>
        <p:txBody>
          <a:bodyPr wrap="square">
            <a:spAutoFit/>
          </a:bodyPr>
          <a:lstStyle/>
          <a:p>
            <a:pPr algn="ctr"/>
            <a:r>
              <a:rPr sz="1000" b="0">
                <a:solidFill>
                  <a:srgbClr val="14142E"/>
                </a:solidFill>
              </a:rPr>
              <a:t>Not Applicable
MySilah automatically links user accounts via UAE PASS UUID on first authentication. No manual linking step is presented.
غير منطبق
يتم ربط الحسابات تلقائياً عبر معرّف UAE PASS عند أول مصادقة. لا توجد خطوة ربط يدوي للمستخدم.</a:t>
            </a:r>
          </a:p>
        </p:txBody>
      </p:sp>
    </p:spTree>
    <p:extLst>
      <p:ext uri="{BB962C8B-B14F-4D97-AF65-F5344CB8AC3E}">
        <p14:creationId xmlns:p14="http://schemas.microsoft.com/office/powerpoint/2010/main" val="905011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79" y="240096"/>
            <a:ext cx="10515600" cy="536575"/>
          </a:xfrm>
        </p:spPr>
        <p:txBody>
          <a:bodyPr>
            <a:normAutofit/>
          </a:bodyPr>
          <a:lstStyle/>
          <a:p>
            <a:r>
              <a:rPr lang="en-US" u="sng" dirty="0"/>
              <a:t>Manual linking (NO) scenario </a:t>
            </a:r>
            <a:r>
              <a:rPr lang="en-SG" sz="2000" dirty="0">
                <a:solidFill>
                  <a:schemeClr val="bg1">
                    <a:lumMod val="50000"/>
                  </a:schemeClr>
                </a:solidFill>
              </a:rPr>
              <a:t>(if applicable)</a:t>
            </a:r>
            <a:endParaRPr lang="en-US" dirty="0">
              <a:solidFill>
                <a:schemeClr val="bg2">
                  <a:lumMod val="50000"/>
                </a:schemeClr>
              </a:solidFill>
            </a:endParaRPr>
          </a:p>
        </p:txBody>
      </p:sp>
      <p:sp>
        <p:nvSpPr>
          <p:cNvPr id="6" name="Rectangle 5"/>
          <p:cNvSpPr/>
          <p:nvPr/>
        </p:nvSpPr>
        <p:spPr>
          <a:xfrm>
            <a:off x="434879" y="1303908"/>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 name="Group 3"/>
          <p:cNvGrpSpPr/>
          <p:nvPr/>
        </p:nvGrpSpPr>
        <p:grpSpPr>
          <a:xfrm>
            <a:off x="8111958" y="281781"/>
            <a:ext cx="2996309" cy="2726571"/>
            <a:chOff x="8111958" y="281781"/>
            <a:chExt cx="2996309" cy="2726571"/>
          </a:xfrm>
        </p:grpSpPr>
        <p:pic>
          <p:nvPicPr>
            <p:cNvPr id="8" name="Picture 7"/>
            <p:cNvPicPr>
              <a:picLocks noChangeAspect="1"/>
            </p:cNvPicPr>
            <p:nvPr/>
          </p:nvPicPr>
          <p:blipFill rotWithShape="1">
            <a:blip r:embed="rId2"/>
            <a:srcRect b="50080"/>
            <a:stretch/>
          </p:blipFill>
          <p:spPr>
            <a:xfrm>
              <a:off x="8111958" y="281781"/>
              <a:ext cx="2996309" cy="2726571"/>
            </a:xfrm>
            <a:prstGeom prst="rect">
              <a:avLst/>
            </a:prstGeom>
          </p:spPr>
        </p:pic>
        <p:sp>
          <p:nvSpPr>
            <p:cNvPr id="3" name="Oval 2"/>
            <p:cNvSpPr/>
            <p:nvPr/>
          </p:nvSpPr>
          <p:spPr>
            <a:xfrm>
              <a:off x="9576245" y="1608667"/>
              <a:ext cx="786955" cy="33866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p:cNvPicPr>
            <a:picLocks noChangeAspect="1"/>
          </p:cNvPicPr>
          <p:nvPr/>
        </p:nvPicPr>
        <p:blipFill>
          <a:blip r:embed="rId3"/>
          <a:stretch>
            <a:fillRect/>
          </a:stretch>
        </p:blipFill>
        <p:spPr>
          <a:xfrm>
            <a:off x="7836438" y="2309897"/>
            <a:ext cx="3637524" cy="3993537"/>
          </a:xfrm>
          <a:prstGeom prst="rect">
            <a:avLst/>
          </a:prstGeom>
        </p:spPr>
      </p:pic>
      <p:sp>
        <p:nvSpPr>
          <p:cNvPr id="9" name="TextBox 8"/>
          <p:cNvSpPr txBox="1"/>
          <p:nvPr/>
        </p:nvSpPr>
        <p:spPr>
          <a:xfrm>
            <a:off x="429768" y="2560320"/>
            <a:ext cx="6629400" cy="1828800"/>
          </a:xfrm>
          <a:prstGeom prst="rect">
            <a:avLst/>
          </a:prstGeom>
          <a:noFill/>
        </p:spPr>
        <p:txBody>
          <a:bodyPr wrap="square">
            <a:spAutoFit/>
          </a:bodyPr>
          <a:lstStyle/>
          <a:p>
            <a:pPr algn="ctr"/>
            <a:r>
              <a:rPr sz="1000" b="0">
                <a:solidFill>
                  <a:srgbClr val="14142E"/>
                </a:solidFill>
              </a:rPr>
              <a:t>Not Applicable
MySilah automatically links user accounts via UAE PASS UUID on first authentication. No manual linking step is presented.
غير منطبق
يتم ربط الحسابات تلقائياً عبر معرّف UAE PASS عند أول مصادقة. لا توجد خطوة ربط يدوي للمستخدم.</a:t>
            </a:r>
          </a:p>
        </p:txBody>
      </p:sp>
    </p:spTree>
    <p:extLst>
      <p:ext uri="{BB962C8B-B14F-4D97-AF65-F5344CB8AC3E}">
        <p14:creationId xmlns:p14="http://schemas.microsoft.com/office/powerpoint/2010/main" val="4107883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79" y="395410"/>
            <a:ext cx="10515600" cy="536575"/>
          </a:xfrm>
        </p:spPr>
        <p:txBody>
          <a:bodyPr>
            <a:normAutofit/>
          </a:bodyPr>
          <a:lstStyle/>
          <a:p>
            <a:r>
              <a:rPr lang="en-US" u="sng" dirty="0"/>
              <a:t>Manual linking (YES) scenario </a:t>
            </a:r>
            <a:r>
              <a:rPr lang="en-SG" sz="2000" dirty="0">
                <a:solidFill>
                  <a:schemeClr val="bg1">
                    <a:lumMod val="50000"/>
                  </a:schemeClr>
                </a:solidFill>
              </a:rPr>
              <a:t>(if applicable)</a:t>
            </a:r>
            <a:endParaRPr lang="en-US" dirty="0">
              <a:solidFill>
                <a:schemeClr val="bg2">
                  <a:lumMod val="50000"/>
                </a:schemeClr>
              </a:solidFill>
            </a:endParaRPr>
          </a:p>
        </p:txBody>
      </p:sp>
      <p:sp>
        <p:nvSpPr>
          <p:cNvPr id="6" name="Rectangle 5"/>
          <p:cNvSpPr/>
          <p:nvPr/>
        </p:nvSpPr>
        <p:spPr>
          <a:xfrm>
            <a:off x="434879" y="1303908"/>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 name="Group 2"/>
          <p:cNvGrpSpPr/>
          <p:nvPr/>
        </p:nvGrpSpPr>
        <p:grpSpPr>
          <a:xfrm>
            <a:off x="7954170" y="471968"/>
            <a:ext cx="2996309" cy="2726571"/>
            <a:chOff x="7954170" y="471968"/>
            <a:chExt cx="2996309" cy="2726571"/>
          </a:xfrm>
        </p:grpSpPr>
        <p:pic>
          <p:nvPicPr>
            <p:cNvPr id="8" name="Picture 7"/>
            <p:cNvPicPr>
              <a:picLocks noChangeAspect="1"/>
            </p:cNvPicPr>
            <p:nvPr/>
          </p:nvPicPr>
          <p:blipFill rotWithShape="1">
            <a:blip r:embed="rId2"/>
            <a:srcRect b="50080"/>
            <a:stretch/>
          </p:blipFill>
          <p:spPr>
            <a:xfrm>
              <a:off x="7954170" y="471968"/>
              <a:ext cx="2996309" cy="2726571"/>
            </a:xfrm>
            <a:prstGeom prst="rect">
              <a:avLst/>
            </a:prstGeom>
          </p:spPr>
        </p:pic>
        <p:sp>
          <p:nvSpPr>
            <p:cNvPr id="10" name="Oval 9"/>
            <p:cNvSpPr/>
            <p:nvPr/>
          </p:nvSpPr>
          <p:spPr>
            <a:xfrm>
              <a:off x="8693371" y="1795585"/>
              <a:ext cx="786955" cy="33866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p:cNvPicPr>
            <a:picLocks noChangeAspect="1"/>
          </p:cNvPicPr>
          <p:nvPr/>
        </p:nvPicPr>
        <p:blipFill>
          <a:blip r:embed="rId3"/>
          <a:stretch>
            <a:fillRect/>
          </a:stretch>
        </p:blipFill>
        <p:spPr>
          <a:xfrm>
            <a:off x="7441884" y="2572711"/>
            <a:ext cx="4172754" cy="3704384"/>
          </a:xfrm>
          <a:prstGeom prst="rect">
            <a:avLst/>
          </a:prstGeom>
        </p:spPr>
      </p:pic>
      <p:sp>
        <p:nvSpPr>
          <p:cNvPr id="11" name="TextBox 10"/>
          <p:cNvSpPr txBox="1"/>
          <p:nvPr/>
        </p:nvSpPr>
        <p:spPr>
          <a:xfrm>
            <a:off x="429768" y="2560320"/>
            <a:ext cx="6629400" cy="1828800"/>
          </a:xfrm>
          <a:prstGeom prst="rect">
            <a:avLst/>
          </a:prstGeom>
          <a:noFill/>
        </p:spPr>
        <p:txBody>
          <a:bodyPr wrap="square">
            <a:spAutoFit/>
          </a:bodyPr>
          <a:lstStyle/>
          <a:p>
            <a:pPr algn="ctr"/>
            <a:r>
              <a:rPr sz="1000" b="0">
                <a:solidFill>
                  <a:srgbClr val="14142E"/>
                </a:solidFill>
              </a:rPr>
              <a:t>Not Applicable
MySilah automatically links user accounts via UAE PASS UUID on first authentication. No manual linking step is presented.
غير منطبق
يتم ربط الحسابات تلقائياً عبر معرّف UAE PASS عند أول مصادقة. لا توجد خطوة ربط يدوي للمستخدم.</a:t>
            </a:r>
          </a:p>
        </p:txBody>
      </p:sp>
    </p:spTree>
    <p:extLst>
      <p:ext uri="{BB962C8B-B14F-4D97-AF65-F5344CB8AC3E}">
        <p14:creationId xmlns:p14="http://schemas.microsoft.com/office/powerpoint/2010/main" val="3382915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79" y="355702"/>
            <a:ext cx="10515600" cy="536575"/>
          </a:xfrm>
        </p:spPr>
        <p:txBody>
          <a:bodyPr>
            <a:normAutofit/>
          </a:bodyPr>
          <a:lstStyle/>
          <a:p>
            <a:r>
              <a:rPr lang="en-US" u="sng" dirty="0"/>
              <a:t>Only registration/Sign up Scenario (If applicable)</a:t>
            </a:r>
            <a:endParaRPr lang="en-SG" u="sng" dirty="0"/>
          </a:p>
        </p:txBody>
      </p:sp>
      <p:sp>
        <p:nvSpPr>
          <p:cNvPr id="6" name="Rectangle 5"/>
          <p:cNvSpPr/>
          <p:nvPr/>
        </p:nvSpPr>
        <p:spPr>
          <a:xfrm>
            <a:off x="2306140" y="1373188"/>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12.png"/>
          <p:cNvPicPr>
            <a:picLocks noChangeAspect="1"/>
          </p:cNvPicPr>
          <p:nvPr/>
        </p:nvPicPr>
        <p:blipFill>
          <a:blip r:embed="rId2"/>
          <a:stretch>
            <a:fillRect/>
          </a:stretch>
        </p:blipFill>
        <p:spPr>
          <a:xfrm>
            <a:off x="2304288" y="1544879"/>
            <a:ext cx="6629400" cy="3951122"/>
          </a:xfrm>
          <a:prstGeom prst="rect">
            <a:avLst/>
          </a:prstGeom>
        </p:spPr>
      </p:pic>
      <p:sp>
        <p:nvSpPr>
          <p:cNvPr id="8" name="TextBox 7"/>
          <p:cNvSpPr txBox="1"/>
          <p:nvPr/>
        </p:nvSpPr>
        <p:spPr>
          <a:xfrm>
            <a:off x="2304288" y="5806440"/>
            <a:ext cx="6629400" cy="411480"/>
          </a:xfrm>
          <a:prstGeom prst="rect">
            <a:avLst/>
          </a:prstGeom>
          <a:noFill/>
        </p:spPr>
        <p:txBody>
          <a:bodyPr wrap="square">
            <a:spAutoFit/>
          </a:bodyPr>
          <a:lstStyle/>
          <a:p>
            <a:pPr algn="l"/>
            <a:r>
              <a:rPr sz="750" b="0">
                <a:solidFill>
                  <a:srgbClr val="14142E"/>
                </a:solidFill>
              </a:rPr>
              <a:t>EN: Users without a MySilah account register via app.mysilah.ae/register using UAE PASS. Verified identity data auto-populates the registration. No prior MySilah account required.</a:t>
            </a:r>
          </a:p>
        </p:txBody>
      </p:sp>
      <p:sp>
        <p:nvSpPr>
          <p:cNvPr id="9" name="TextBox 8"/>
          <p:cNvSpPr txBox="1"/>
          <p:nvPr/>
        </p:nvSpPr>
        <p:spPr>
          <a:xfrm>
            <a:off x="2304288" y="6245352"/>
            <a:ext cx="6629400" cy="365760"/>
          </a:xfrm>
          <a:prstGeom prst="rect">
            <a:avLst/>
          </a:prstGeom>
          <a:noFill/>
        </p:spPr>
        <p:txBody>
          <a:bodyPr wrap="square">
            <a:spAutoFit/>
          </a:bodyPr>
          <a:lstStyle/>
          <a:p>
            <a:pPr algn="l"/>
            <a:r>
              <a:rPr sz="750" b="0">
                <a:solidFill>
                  <a:srgbClr val="14142E"/>
                </a:solidFill>
              </a:rPr>
              <a:t>AR: يمكن للمستخدمين غير المسجلين التسجيل عبر UAE PASS. تستخدم المنصة بيانات الهوية الموثّقة لاستكمال التسجيل تلقائياً. لا يُشترط وجود حساب مسبق.</a:t>
            </a:r>
          </a:p>
        </p:txBody>
      </p:sp>
    </p:spTree>
    <p:extLst>
      <p:ext uri="{BB962C8B-B14F-4D97-AF65-F5344CB8AC3E}">
        <p14:creationId xmlns:p14="http://schemas.microsoft.com/office/powerpoint/2010/main" val="2633114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79" y="498649"/>
            <a:ext cx="10515600" cy="536575"/>
          </a:xfrm>
        </p:spPr>
        <p:txBody>
          <a:bodyPr>
            <a:normAutofit fontScale="90000"/>
          </a:bodyPr>
          <a:lstStyle/>
          <a:p>
            <a:r>
              <a:rPr lang="en-SG" u="sng" dirty="0"/>
              <a:t>Error Handling</a:t>
            </a:r>
            <a:br>
              <a:rPr lang="en-SG" u="sng" dirty="0"/>
            </a:br>
            <a:r>
              <a:rPr lang="en-US" u="sng" dirty="0"/>
              <a:t>O</a:t>
            </a:r>
            <a:r>
              <a:rPr lang="en-US"/>
              <a:t>nly </a:t>
            </a:r>
            <a:r>
              <a:rPr lang="en-US" dirty="0"/>
              <a:t>existing users error message</a:t>
            </a:r>
            <a:endParaRPr lang="en-SG" dirty="0"/>
          </a:p>
        </p:txBody>
      </p:sp>
      <p:sp>
        <p:nvSpPr>
          <p:cNvPr id="6" name="Rectangle 5"/>
          <p:cNvSpPr/>
          <p:nvPr/>
        </p:nvSpPr>
        <p:spPr>
          <a:xfrm>
            <a:off x="434879" y="1303908"/>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p:cNvSpPr/>
          <p:nvPr/>
        </p:nvSpPr>
        <p:spPr>
          <a:xfrm>
            <a:off x="8204688" y="2011649"/>
            <a:ext cx="2684585" cy="1477328"/>
          </a:xfrm>
          <a:prstGeom prst="rect">
            <a:avLst/>
          </a:prstGeom>
          <a:ln>
            <a:solidFill>
              <a:schemeClr val="tx1"/>
            </a:solidFill>
          </a:ln>
        </p:spPr>
        <p:txBody>
          <a:bodyPr wrap="square">
            <a:spAutoFit/>
          </a:bodyPr>
          <a:lstStyle/>
          <a:p>
            <a:pPr fontAlgn="ctr"/>
            <a:r>
              <a:rPr lang="en-US" dirty="0"/>
              <a:t>This service is only for registered users, please contact MySilah in order to access the services </a:t>
            </a:r>
          </a:p>
        </p:txBody>
      </p:sp>
      <p:sp>
        <p:nvSpPr>
          <p:cNvPr id="5" name="Rectangle 4"/>
          <p:cNvSpPr/>
          <p:nvPr/>
        </p:nvSpPr>
        <p:spPr>
          <a:xfrm>
            <a:off x="8204688" y="3872179"/>
            <a:ext cx="2684585" cy="1200329"/>
          </a:xfrm>
          <a:prstGeom prst="rect">
            <a:avLst/>
          </a:prstGeom>
          <a:ln>
            <a:solidFill>
              <a:schemeClr val="tx1"/>
            </a:solidFill>
          </a:ln>
        </p:spPr>
        <p:txBody>
          <a:bodyPr wrap="square">
            <a:spAutoFit/>
          </a:bodyPr>
          <a:lstStyle/>
          <a:p>
            <a:pPr algn="r" rtl="1" fontAlgn="ctr"/>
            <a:r>
              <a:rPr lang="ar-AE" dirty="0"/>
              <a:t>هذه الخدمة مخصصة فقط للمستخدمين المسجلين، يرجى التواصل مع MySilah لتتمكن من الوصول إلى الخدمات</a:t>
            </a:r>
          </a:p>
        </p:txBody>
      </p:sp>
      <p:sp>
        <p:nvSpPr>
          <p:cNvPr id="7" name="TextBox 6"/>
          <p:cNvSpPr txBox="1"/>
          <p:nvPr/>
        </p:nvSpPr>
        <p:spPr>
          <a:xfrm>
            <a:off x="429768" y="2560320"/>
            <a:ext cx="6629400" cy="1828800"/>
          </a:xfrm>
          <a:prstGeom prst="rect">
            <a:avLst/>
          </a:prstGeom>
          <a:noFill/>
        </p:spPr>
        <p:txBody>
          <a:bodyPr wrap="square">
            <a:spAutoFit/>
          </a:bodyPr>
          <a:lstStyle/>
          <a:p>
            <a:pPr algn="ctr"/>
            <a:r>
              <a:rPr sz="1000" b="0">
                <a:solidFill>
                  <a:srgbClr val="14142E"/>
                </a:solidFill>
              </a:rPr>
              <a:t>Not Applicable
MySilah allows new user registration via UAE PASS. Access is not restricted to pre-existing users only.
غير منطبق
تسمح MySilah بتسجيل مستخدمين جدد عبر UAE PASS. لا يقتصر الوصول على المستخدمين المسجلين مسبقاً.</a:t>
            </a:r>
          </a:p>
        </p:txBody>
      </p:sp>
    </p:spTree>
    <p:extLst>
      <p:ext uri="{BB962C8B-B14F-4D97-AF65-F5344CB8AC3E}">
        <p14:creationId xmlns:p14="http://schemas.microsoft.com/office/powerpoint/2010/main" val="684814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79" y="439656"/>
            <a:ext cx="10515600" cy="536575"/>
          </a:xfrm>
        </p:spPr>
        <p:txBody>
          <a:bodyPr>
            <a:normAutofit fontScale="90000"/>
          </a:bodyPr>
          <a:lstStyle/>
          <a:p>
            <a:r>
              <a:rPr lang="en-SG" u="sng" dirty="0"/>
              <a:t>Error Handling</a:t>
            </a:r>
            <a:br>
              <a:rPr lang="en-SG" u="sng" dirty="0"/>
            </a:br>
            <a:r>
              <a:rPr lang="en-SG" dirty="0"/>
              <a:t>Unverified user restriction </a:t>
            </a:r>
          </a:p>
        </p:txBody>
      </p:sp>
      <p:sp>
        <p:nvSpPr>
          <p:cNvPr id="6" name="Rectangle 5"/>
          <p:cNvSpPr/>
          <p:nvPr/>
        </p:nvSpPr>
        <p:spPr>
          <a:xfrm>
            <a:off x="434879" y="1303908"/>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2"/>
          <p:cNvSpPr/>
          <p:nvPr/>
        </p:nvSpPr>
        <p:spPr>
          <a:xfrm>
            <a:off x="8063135" y="1563855"/>
            <a:ext cx="2637692" cy="2308324"/>
          </a:xfrm>
          <a:prstGeom prst="rect">
            <a:avLst/>
          </a:prstGeom>
          <a:ln>
            <a:solidFill>
              <a:schemeClr val="tx1"/>
            </a:solidFill>
          </a:ln>
        </p:spPr>
        <p:txBody>
          <a:bodyPr wrap="square">
            <a:spAutoFit/>
          </a:bodyPr>
          <a:lstStyle/>
          <a:p>
            <a:r>
              <a:rPr lang="en-US" dirty="0">
                <a:latin typeface="__Roboto_a48f64"/>
              </a:rPr>
              <a:t>You are not eligible to access this service. Your account is either not upgraded or you have a visitor account. Please contact MySilah to access the services.</a:t>
            </a:r>
            <a:endParaRPr lang="en-US" dirty="0"/>
          </a:p>
        </p:txBody>
      </p:sp>
      <p:sp>
        <p:nvSpPr>
          <p:cNvPr id="4" name="Rectangle 3"/>
          <p:cNvSpPr/>
          <p:nvPr/>
        </p:nvSpPr>
        <p:spPr>
          <a:xfrm>
            <a:off x="8063135" y="4072989"/>
            <a:ext cx="2637692" cy="1477328"/>
          </a:xfrm>
          <a:prstGeom prst="rect">
            <a:avLst/>
          </a:prstGeom>
          <a:ln>
            <a:solidFill>
              <a:schemeClr val="tx1"/>
            </a:solidFill>
          </a:ln>
        </p:spPr>
        <p:txBody>
          <a:bodyPr wrap="square">
            <a:spAutoFit/>
          </a:bodyPr>
          <a:lstStyle/>
          <a:p>
            <a:r>
              <a:rPr lang="ar-AE" dirty="0">
                <a:latin typeface="__Roboto_a48f64"/>
              </a:rPr>
              <a:t>أنت غير مؤهل للوصول إلى هذه الخدمة. إما أن حسابك لم تتم ترقيته أو لديك حساب زائر. يرجى الاتصال بـ MySilah لتتمكن من الوصول إلى الخدمة.</a:t>
            </a:r>
            <a:endParaRPr lang="en-US" dirty="0"/>
          </a:p>
        </p:txBody>
      </p:sp>
      <p:pic>
        <p:nvPicPr>
          <p:cNvPr id="7" name="Picture 6" descr="17.png"/>
          <p:cNvPicPr>
            <a:picLocks noChangeAspect="1"/>
          </p:cNvPicPr>
          <p:nvPr/>
        </p:nvPicPr>
        <p:blipFill>
          <a:blip r:embed="rId2"/>
          <a:stretch>
            <a:fillRect/>
          </a:stretch>
        </p:blipFill>
        <p:spPr>
          <a:xfrm>
            <a:off x="2760310" y="1298448"/>
            <a:ext cx="1968316" cy="4389120"/>
          </a:xfrm>
          <a:prstGeom prst="rect">
            <a:avLst/>
          </a:prstGeom>
        </p:spPr>
      </p:pic>
      <p:sp>
        <p:nvSpPr>
          <p:cNvPr id="8" name="TextBox 7"/>
          <p:cNvSpPr txBox="1"/>
          <p:nvPr/>
        </p:nvSpPr>
        <p:spPr>
          <a:xfrm>
            <a:off x="429768" y="5806440"/>
            <a:ext cx="6629400" cy="411480"/>
          </a:xfrm>
          <a:prstGeom prst="rect">
            <a:avLst/>
          </a:prstGeom>
          <a:noFill/>
        </p:spPr>
        <p:txBody>
          <a:bodyPr wrap="square">
            <a:spAutoFit/>
          </a:bodyPr>
          <a:lstStyle/>
          <a:p>
            <a:pPr algn="l"/>
            <a:r>
              <a:rPr sz="750" b="0">
                <a:solidFill>
                  <a:srgbClr val="14142E"/>
                </a:solidFill>
              </a:rPr>
              <a:t>EN: If user authenticates with a Basic (unverified) UAE PASS account, MySilah restricts access and displays: "Your UAE PASS account is not fully verified. Please upgrade your account to access MySilah services."</a:t>
            </a:r>
          </a:p>
        </p:txBody>
      </p:sp>
      <p:sp>
        <p:nvSpPr>
          <p:cNvPr id="9" name="TextBox 8"/>
          <p:cNvSpPr txBox="1"/>
          <p:nvPr/>
        </p:nvSpPr>
        <p:spPr>
          <a:xfrm>
            <a:off x="429768" y="6245352"/>
            <a:ext cx="6629400" cy="365760"/>
          </a:xfrm>
          <a:prstGeom prst="rect">
            <a:avLst/>
          </a:prstGeom>
          <a:noFill/>
        </p:spPr>
        <p:txBody>
          <a:bodyPr wrap="square">
            <a:spAutoFit/>
          </a:bodyPr>
          <a:lstStyle/>
          <a:p>
            <a:pPr algn="l"/>
            <a:r>
              <a:rPr sz="750" b="0">
                <a:solidFill>
                  <a:srgbClr val="14142E"/>
                </a:solidFill>
              </a:rPr>
              <a:t>AR: إذا كان حساب UAE PASS للمستخدم أساسياً (غير موثّق)، تمنع MySilah الوصول وتعرض: "حسابك غير موثّق. يرجى ترقية الحساب للوصول إلى خدمات MySilah."</a:t>
            </a:r>
          </a:p>
        </p:txBody>
      </p:sp>
    </p:spTree>
    <p:extLst>
      <p:ext uri="{BB962C8B-B14F-4D97-AF65-F5344CB8AC3E}">
        <p14:creationId xmlns:p14="http://schemas.microsoft.com/office/powerpoint/2010/main" val="151790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79" y="469151"/>
            <a:ext cx="10515600" cy="536575"/>
          </a:xfrm>
        </p:spPr>
        <p:txBody>
          <a:bodyPr>
            <a:normAutofit fontScale="90000"/>
          </a:bodyPr>
          <a:lstStyle/>
          <a:p>
            <a:r>
              <a:rPr lang="en-SG" u="sng" dirty="0"/>
              <a:t>Error Handling</a:t>
            </a:r>
            <a:br>
              <a:rPr lang="en-SG" u="sng" dirty="0"/>
            </a:br>
            <a:r>
              <a:rPr lang="en-US" dirty="0"/>
              <a:t>Something went wrong during the login</a:t>
            </a:r>
            <a:endParaRPr lang="en-SG" dirty="0"/>
          </a:p>
        </p:txBody>
      </p:sp>
      <p:sp>
        <p:nvSpPr>
          <p:cNvPr id="6" name="Rectangle 5"/>
          <p:cNvSpPr/>
          <p:nvPr/>
        </p:nvSpPr>
        <p:spPr>
          <a:xfrm>
            <a:off x="434879" y="1303908"/>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p:cNvSpPr/>
          <p:nvPr/>
        </p:nvSpPr>
        <p:spPr>
          <a:xfrm>
            <a:off x="7725506" y="2182643"/>
            <a:ext cx="3528648" cy="646331"/>
          </a:xfrm>
          <a:prstGeom prst="rect">
            <a:avLst/>
          </a:prstGeom>
          <a:ln>
            <a:solidFill>
              <a:schemeClr val="tx1"/>
            </a:solidFill>
          </a:ln>
        </p:spPr>
        <p:txBody>
          <a:bodyPr wrap="square">
            <a:spAutoFit/>
          </a:bodyPr>
          <a:lstStyle/>
          <a:p>
            <a:r>
              <a:rPr lang="en-US" dirty="0">
                <a:latin typeface="__Roboto_a48f64"/>
              </a:rPr>
              <a:t>Something went wrong during the login, please try again later!</a:t>
            </a:r>
            <a:endParaRPr lang="en-US" dirty="0"/>
          </a:p>
        </p:txBody>
      </p:sp>
      <p:sp>
        <p:nvSpPr>
          <p:cNvPr id="8" name="Rectangle 7"/>
          <p:cNvSpPr/>
          <p:nvPr/>
        </p:nvSpPr>
        <p:spPr>
          <a:xfrm>
            <a:off x="7725507" y="3636559"/>
            <a:ext cx="3528648" cy="646331"/>
          </a:xfrm>
          <a:prstGeom prst="rect">
            <a:avLst/>
          </a:prstGeom>
          <a:ln>
            <a:solidFill>
              <a:schemeClr val="tx1"/>
            </a:solidFill>
          </a:ln>
        </p:spPr>
        <p:txBody>
          <a:bodyPr wrap="square">
            <a:spAutoFit/>
          </a:bodyPr>
          <a:lstStyle/>
          <a:p>
            <a:pPr algn="r" rtl="1" fontAlgn="ctr"/>
            <a:r>
              <a:rPr lang="ar-AE" dirty="0"/>
              <a:t>حدث خطأ ما أثناء تسجيل الدخول، يرجى المحاولة مرة أخرى لاحقًا!</a:t>
            </a:r>
          </a:p>
        </p:txBody>
      </p:sp>
      <p:pic>
        <p:nvPicPr>
          <p:cNvPr id="9" name="Picture 8" descr="16.png"/>
          <p:cNvPicPr>
            <a:picLocks noChangeAspect="1"/>
          </p:cNvPicPr>
          <p:nvPr/>
        </p:nvPicPr>
        <p:blipFill>
          <a:blip r:embed="rId2"/>
          <a:stretch>
            <a:fillRect/>
          </a:stretch>
        </p:blipFill>
        <p:spPr>
          <a:xfrm>
            <a:off x="429768" y="1616888"/>
            <a:ext cx="6629400" cy="3752240"/>
          </a:xfrm>
          <a:prstGeom prst="rect">
            <a:avLst/>
          </a:prstGeom>
        </p:spPr>
      </p:pic>
      <p:sp>
        <p:nvSpPr>
          <p:cNvPr id="10" name="TextBox 9"/>
          <p:cNvSpPr txBox="1"/>
          <p:nvPr/>
        </p:nvSpPr>
        <p:spPr>
          <a:xfrm>
            <a:off x="429768" y="5806440"/>
            <a:ext cx="6629400" cy="411480"/>
          </a:xfrm>
          <a:prstGeom prst="rect">
            <a:avLst/>
          </a:prstGeom>
          <a:noFill/>
        </p:spPr>
        <p:txBody>
          <a:bodyPr wrap="square">
            <a:spAutoFit/>
          </a:bodyPr>
          <a:lstStyle/>
          <a:p>
            <a:pPr algn="l"/>
            <a:r>
              <a:rPr sz="750" b="0">
                <a:solidFill>
                  <a:srgbClr val="14142E"/>
                </a:solidFill>
              </a:rPr>
              <a:t>EN: UAE PASS displays an error for invalid credentials. If the OAuth callback fails, user is redirected to app.mysilah.ae/login with: "Login failed. Please try again."</a:t>
            </a:r>
          </a:p>
        </p:txBody>
      </p:sp>
      <p:sp>
        <p:nvSpPr>
          <p:cNvPr id="11" name="TextBox 10"/>
          <p:cNvSpPr txBox="1"/>
          <p:nvPr/>
        </p:nvSpPr>
        <p:spPr>
          <a:xfrm>
            <a:off x="429768" y="6245352"/>
            <a:ext cx="6629400" cy="365760"/>
          </a:xfrm>
          <a:prstGeom prst="rect">
            <a:avLst/>
          </a:prstGeom>
          <a:noFill/>
        </p:spPr>
        <p:txBody>
          <a:bodyPr wrap="square">
            <a:spAutoFit/>
          </a:bodyPr>
          <a:lstStyle/>
          <a:p>
            <a:pPr algn="l"/>
            <a:r>
              <a:rPr sz="750" b="0">
                <a:solidFill>
                  <a:srgbClr val="14142E"/>
                </a:solidFill>
              </a:rPr>
              <a:t>AR: يعرض UAE PASS خطأً لبيانات غير صحيحة. في حال فشل عملية الاسترداد، يُعاد توجيه المستخدم إلى صفحة تسجيل الدخول برسالة: "فشل تسجيل الدخول. يرجى المحاولة مرة أخرى."</a:t>
            </a:r>
          </a:p>
        </p:txBody>
      </p:sp>
    </p:spTree>
    <p:extLst>
      <p:ext uri="{BB962C8B-B14F-4D97-AF65-F5344CB8AC3E}">
        <p14:creationId xmlns:p14="http://schemas.microsoft.com/office/powerpoint/2010/main" val="1173937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79" y="410158"/>
            <a:ext cx="10515600" cy="536575"/>
          </a:xfrm>
        </p:spPr>
        <p:txBody>
          <a:bodyPr>
            <a:normAutofit fontScale="90000"/>
          </a:bodyPr>
          <a:lstStyle/>
          <a:p>
            <a:r>
              <a:rPr lang="en-SG" u="sng" dirty="0"/>
              <a:t>Error Handling</a:t>
            </a:r>
            <a:br>
              <a:rPr lang="en-SG" u="sng" dirty="0"/>
            </a:br>
            <a:r>
              <a:rPr lang="en-US" dirty="0"/>
              <a:t>User cancel scenario </a:t>
            </a:r>
          </a:p>
        </p:txBody>
      </p:sp>
      <p:sp>
        <p:nvSpPr>
          <p:cNvPr id="6" name="Rectangle 5"/>
          <p:cNvSpPr/>
          <p:nvPr/>
        </p:nvSpPr>
        <p:spPr>
          <a:xfrm>
            <a:off x="434879" y="1303908"/>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2"/>
          <p:cNvSpPr/>
          <p:nvPr/>
        </p:nvSpPr>
        <p:spPr>
          <a:xfrm>
            <a:off x="7485455" y="2312350"/>
            <a:ext cx="2646878" cy="369332"/>
          </a:xfrm>
          <a:prstGeom prst="rect">
            <a:avLst/>
          </a:prstGeom>
          <a:ln>
            <a:solidFill>
              <a:schemeClr val="tx1"/>
            </a:solidFill>
          </a:ln>
        </p:spPr>
        <p:txBody>
          <a:bodyPr wrap="none">
            <a:spAutoFit/>
          </a:bodyPr>
          <a:lstStyle/>
          <a:p>
            <a:r>
              <a:rPr lang="en-US" dirty="0">
                <a:latin typeface="__Roboto_a48f64"/>
              </a:rPr>
              <a:t>User cancelled the login</a:t>
            </a:r>
            <a:endParaRPr lang="en-US" dirty="0"/>
          </a:p>
        </p:txBody>
      </p:sp>
      <p:sp>
        <p:nvSpPr>
          <p:cNvPr id="5" name="Rectangle 4"/>
          <p:cNvSpPr/>
          <p:nvPr/>
        </p:nvSpPr>
        <p:spPr>
          <a:xfrm>
            <a:off x="7485455" y="3304311"/>
            <a:ext cx="2646878" cy="369332"/>
          </a:xfrm>
          <a:prstGeom prst="rect">
            <a:avLst/>
          </a:prstGeom>
          <a:ln>
            <a:solidFill>
              <a:schemeClr val="tx1"/>
            </a:solidFill>
          </a:ln>
        </p:spPr>
        <p:txBody>
          <a:bodyPr wrap="square">
            <a:spAutoFit/>
          </a:bodyPr>
          <a:lstStyle/>
          <a:p>
            <a:r>
              <a:rPr lang="ar-AE" dirty="0">
                <a:latin typeface="__Roboto_a48f64"/>
              </a:rPr>
              <a:t>قام المستخدم بإلغاء تسجيل الدخول</a:t>
            </a:r>
            <a:endParaRPr lang="en-US" dirty="0"/>
          </a:p>
        </p:txBody>
      </p:sp>
      <p:pic>
        <p:nvPicPr>
          <p:cNvPr id="7" name="Picture 6" descr="15.png"/>
          <p:cNvPicPr>
            <a:picLocks noChangeAspect="1"/>
          </p:cNvPicPr>
          <p:nvPr/>
        </p:nvPicPr>
        <p:blipFill>
          <a:blip r:embed="rId2"/>
          <a:stretch>
            <a:fillRect/>
          </a:stretch>
        </p:blipFill>
        <p:spPr>
          <a:xfrm>
            <a:off x="1020584" y="1298448"/>
            <a:ext cx="2018768" cy="4389120"/>
          </a:xfrm>
          <a:prstGeom prst="rect">
            <a:avLst/>
          </a:prstGeom>
        </p:spPr>
      </p:pic>
      <p:pic>
        <p:nvPicPr>
          <p:cNvPr id="8" name="Picture 7" descr="11.png"/>
          <p:cNvPicPr>
            <a:picLocks noChangeAspect="1"/>
          </p:cNvPicPr>
          <p:nvPr/>
        </p:nvPicPr>
        <p:blipFill>
          <a:blip r:embed="rId3"/>
          <a:stretch>
            <a:fillRect/>
          </a:stretch>
        </p:blipFill>
        <p:spPr>
          <a:xfrm>
            <a:off x="3749039" y="2572893"/>
            <a:ext cx="3200400" cy="1840230"/>
          </a:xfrm>
          <a:prstGeom prst="rect">
            <a:avLst/>
          </a:prstGeom>
        </p:spPr>
      </p:pic>
      <p:sp>
        <p:nvSpPr>
          <p:cNvPr id="9" name="TextBox 8"/>
          <p:cNvSpPr txBox="1"/>
          <p:nvPr/>
        </p:nvSpPr>
        <p:spPr>
          <a:xfrm>
            <a:off x="429768" y="5806440"/>
            <a:ext cx="6629400" cy="411480"/>
          </a:xfrm>
          <a:prstGeom prst="rect">
            <a:avLst/>
          </a:prstGeom>
          <a:noFill/>
        </p:spPr>
        <p:txBody>
          <a:bodyPr wrap="square">
            <a:spAutoFit/>
          </a:bodyPr>
          <a:lstStyle/>
          <a:p>
            <a:pPr algn="l"/>
            <a:r>
              <a:rPr sz="750" b="0">
                <a:solidFill>
                  <a:srgbClr val="14142E"/>
                </a:solidFill>
              </a:rPr>
              <a:t>EN: User taps "Decline" on the UAE PASS Login Request Alert (or clicks "Cancel Request" on the browser polling page). Authentication is cancelled and user is redirected to app.mysilah.ae/login.</a:t>
            </a:r>
          </a:p>
        </p:txBody>
      </p:sp>
      <p:sp>
        <p:nvSpPr>
          <p:cNvPr id="10" name="TextBox 9"/>
          <p:cNvSpPr txBox="1"/>
          <p:nvPr/>
        </p:nvSpPr>
        <p:spPr>
          <a:xfrm>
            <a:off x="429768" y="6245352"/>
            <a:ext cx="6629400" cy="365760"/>
          </a:xfrm>
          <a:prstGeom prst="rect">
            <a:avLst/>
          </a:prstGeom>
          <a:noFill/>
        </p:spPr>
        <p:txBody>
          <a:bodyPr wrap="square">
            <a:spAutoFit/>
          </a:bodyPr>
          <a:lstStyle/>
          <a:p>
            <a:pPr algn="l"/>
            <a:r>
              <a:rPr sz="750" b="0">
                <a:solidFill>
                  <a:srgbClr val="14142E"/>
                </a:solidFill>
              </a:rPr>
              <a:t>AR: يضغط المستخدم "رفض" في إشعار الطلب أو "إلغاء الطلب" في المتصفح. يُلغى تسجيل الدخول ويُعاد توجيه المستخدم إلى صفحة تسجيل الدخول.</a:t>
            </a:r>
          </a:p>
        </p:txBody>
      </p:sp>
    </p:spTree>
    <p:extLst>
      <p:ext uri="{BB962C8B-B14F-4D97-AF65-F5344CB8AC3E}">
        <p14:creationId xmlns:p14="http://schemas.microsoft.com/office/powerpoint/2010/main" val="2765272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79" y="483901"/>
            <a:ext cx="10515600" cy="536575"/>
          </a:xfrm>
        </p:spPr>
        <p:txBody>
          <a:bodyPr>
            <a:normAutofit/>
          </a:bodyPr>
          <a:lstStyle/>
          <a:p>
            <a:r>
              <a:rPr lang="en-SG" u="sng" dirty="0"/>
              <a:t>Logout scenario </a:t>
            </a:r>
          </a:p>
        </p:txBody>
      </p:sp>
      <p:sp>
        <p:nvSpPr>
          <p:cNvPr id="6" name="Rectangle 5"/>
          <p:cNvSpPr/>
          <p:nvPr/>
        </p:nvSpPr>
        <p:spPr>
          <a:xfrm>
            <a:off x="2374470" y="1303908"/>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20.png"/>
          <p:cNvPicPr>
            <a:picLocks noChangeAspect="1"/>
          </p:cNvPicPr>
          <p:nvPr/>
        </p:nvPicPr>
        <p:blipFill>
          <a:blip r:embed="rId2"/>
          <a:stretch>
            <a:fillRect/>
          </a:stretch>
        </p:blipFill>
        <p:spPr>
          <a:xfrm>
            <a:off x="2368296" y="2548890"/>
            <a:ext cx="3200400" cy="1888236"/>
          </a:xfrm>
          <a:prstGeom prst="rect">
            <a:avLst/>
          </a:prstGeom>
        </p:spPr>
      </p:pic>
      <p:pic>
        <p:nvPicPr>
          <p:cNvPr id="8" name="Picture 7" descr="11.png"/>
          <p:cNvPicPr>
            <a:picLocks noChangeAspect="1"/>
          </p:cNvPicPr>
          <p:nvPr/>
        </p:nvPicPr>
        <p:blipFill>
          <a:blip r:embed="rId3"/>
          <a:stretch>
            <a:fillRect/>
          </a:stretch>
        </p:blipFill>
        <p:spPr>
          <a:xfrm>
            <a:off x="5669280" y="2572893"/>
            <a:ext cx="3200400" cy="1840230"/>
          </a:xfrm>
          <a:prstGeom prst="rect">
            <a:avLst/>
          </a:prstGeom>
        </p:spPr>
      </p:pic>
      <p:sp>
        <p:nvSpPr>
          <p:cNvPr id="9" name="TextBox 8"/>
          <p:cNvSpPr txBox="1"/>
          <p:nvPr/>
        </p:nvSpPr>
        <p:spPr>
          <a:xfrm>
            <a:off x="2368296" y="5806440"/>
            <a:ext cx="6629400" cy="411480"/>
          </a:xfrm>
          <a:prstGeom prst="rect">
            <a:avLst/>
          </a:prstGeom>
          <a:noFill/>
        </p:spPr>
        <p:txBody>
          <a:bodyPr wrap="square">
            <a:spAutoFit/>
          </a:bodyPr>
          <a:lstStyle/>
          <a:p>
            <a:pPr algn="l"/>
            <a:r>
              <a:rPr sz="750" b="0">
                <a:solidFill>
                  <a:srgbClr val="14142E"/>
                </a:solidFill>
              </a:rPr>
              <a:t>EN: User clicks their name/avatar in the top-right of the MySilah Agent Dashboard and selects "Logout". Session is terminated and user is redirected to app.mysilah.ae/login.</a:t>
            </a:r>
          </a:p>
        </p:txBody>
      </p:sp>
      <p:sp>
        <p:nvSpPr>
          <p:cNvPr id="10" name="TextBox 9"/>
          <p:cNvSpPr txBox="1"/>
          <p:nvPr/>
        </p:nvSpPr>
        <p:spPr>
          <a:xfrm>
            <a:off x="2368296" y="6245352"/>
            <a:ext cx="6629400" cy="365760"/>
          </a:xfrm>
          <a:prstGeom prst="rect">
            <a:avLst/>
          </a:prstGeom>
          <a:noFill/>
        </p:spPr>
        <p:txBody>
          <a:bodyPr wrap="square">
            <a:spAutoFit/>
          </a:bodyPr>
          <a:lstStyle/>
          <a:p>
            <a:pPr algn="l"/>
            <a:r>
              <a:rPr sz="750" b="0">
                <a:solidFill>
                  <a:srgbClr val="14142E"/>
                </a:solidFill>
              </a:rPr>
              <a:t>AR: يضغط المستخدم على اسمه في الزاوية اليمنى العليا من لوحة التحكم ويختار "تسجيل الخروج". تنتهي الجلسة ويُعاد توجيه المستخدم إلى صفحة تسجيل الدخول.</a:t>
            </a:r>
          </a:p>
        </p:txBody>
      </p:sp>
    </p:spTree>
    <p:extLst>
      <p:ext uri="{BB962C8B-B14F-4D97-AF65-F5344CB8AC3E}">
        <p14:creationId xmlns:p14="http://schemas.microsoft.com/office/powerpoint/2010/main" val="1174634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79" y="424907"/>
            <a:ext cx="10515600" cy="536575"/>
          </a:xfrm>
        </p:spPr>
        <p:txBody>
          <a:bodyPr>
            <a:normAutofit/>
          </a:bodyPr>
          <a:lstStyle/>
          <a:p>
            <a:r>
              <a:rPr lang="en-SG" u="sng" dirty="0"/>
              <a:t>APP to WEB scenario </a:t>
            </a:r>
            <a:r>
              <a:rPr lang="en-SG" sz="1800" dirty="0">
                <a:solidFill>
                  <a:schemeClr val="bg1">
                    <a:lumMod val="50000"/>
                  </a:schemeClr>
                </a:solidFill>
              </a:rPr>
              <a:t>(if mobile integration) </a:t>
            </a:r>
          </a:p>
        </p:txBody>
      </p:sp>
      <p:sp>
        <p:nvSpPr>
          <p:cNvPr id="6" name="Rectangle 5"/>
          <p:cNvSpPr/>
          <p:nvPr/>
        </p:nvSpPr>
        <p:spPr>
          <a:xfrm>
            <a:off x="547678" y="1346811"/>
            <a:ext cx="6636417" cy="475334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0346" y="306374"/>
            <a:ext cx="1767840" cy="3928533"/>
          </a:xfrm>
          <a:prstGeom prst="rect">
            <a:avLst/>
          </a:prstGeom>
          <a:ln>
            <a:solidFill>
              <a:schemeClr val="bg1">
                <a:lumMod val="85000"/>
              </a:schemeClr>
            </a:solidFill>
          </a:ln>
        </p:spPr>
      </p:pic>
      <p:pic>
        <p:nvPicPr>
          <p:cNvPr id="8" name="Picture 7" descr="A screenshot of a cell phone&#10;&#10;Description automatically generated">
            <a:extLst>
              <a:ext uri="{FF2B5EF4-FFF2-40B4-BE49-F238E27FC236}">
                <a16:creationId xmlns:a16="http://schemas.microsoft.com/office/drawing/2014/main" id="{6D34FAEA-B4BB-9D5A-CC10-A90254D19C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2562" y="1694233"/>
            <a:ext cx="1763972" cy="3919938"/>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82400" y="3123934"/>
            <a:ext cx="1701777" cy="3539066"/>
          </a:xfrm>
          <a:prstGeom prst="rect">
            <a:avLst/>
          </a:prstGeom>
          <a:ln>
            <a:solidFill>
              <a:schemeClr val="bg1">
                <a:lumMod val="85000"/>
              </a:schemeClr>
            </a:solidFill>
          </a:ln>
        </p:spPr>
      </p:pic>
      <p:sp>
        <p:nvSpPr>
          <p:cNvPr id="10" name="TextBox 9"/>
          <p:cNvSpPr txBox="1"/>
          <p:nvPr/>
        </p:nvSpPr>
        <p:spPr>
          <a:xfrm>
            <a:off x="539496" y="2560320"/>
            <a:ext cx="6629400" cy="1828800"/>
          </a:xfrm>
          <a:prstGeom prst="rect">
            <a:avLst/>
          </a:prstGeom>
          <a:noFill/>
        </p:spPr>
        <p:txBody>
          <a:bodyPr wrap="square">
            <a:spAutoFit/>
          </a:bodyPr>
          <a:lstStyle/>
          <a:p>
            <a:pPr algn="ctr"/>
            <a:r>
              <a:rPr sz="1200" b="0">
                <a:solidFill>
                  <a:srgbClr val="14142E"/>
                </a:solidFill>
              </a:rPr>
              <a:t>Not Applicable
MySilah is a web-only platform. No native mobile application exists.
غير منطبق
MySilah منصة ويب فقط. لا يوجد تطبيق جوال.</a:t>
            </a:r>
          </a:p>
        </p:txBody>
      </p:sp>
    </p:spTree>
    <p:extLst>
      <p:ext uri="{BB962C8B-B14F-4D97-AF65-F5344CB8AC3E}">
        <p14:creationId xmlns:p14="http://schemas.microsoft.com/office/powerpoint/2010/main" val="72122775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TotalTime>
  <Words>449</Words>
  <Application>Microsoft Office PowerPoint</Application>
  <PresentationFormat>Widescreen</PresentationFormat>
  <Paragraphs>53</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__Roboto_a48f64</vt:lpstr>
      <vt:lpstr>Arial</vt:lpstr>
      <vt:lpstr>Calibri</vt:lpstr>
      <vt:lpstr>Calibri Light</vt:lpstr>
      <vt:lpstr>Trebuchet MS</vt:lpstr>
      <vt:lpstr>1_Office Theme</vt:lpstr>
      <vt:lpstr>PowerPoint Presentation</vt:lpstr>
      <vt:lpstr>Instructions</vt:lpstr>
      <vt:lpstr>Sign-in with UAE PASS </vt:lpstr>
      <vt:lpstr>Sign up with UAE PASS (Authentication) If applicable </vt:lpstr>
      <vt:lpstr> Redirection to UAE PASS Login page (WEB)</vt:lpstr>
      <vt:lpstr> OR Redirection to UAE PASS Login page (App)</vt:lpstr>
      <vt:lpstr>SOP1 scenario (If applicable)</vt:lpstr>
      <vt:lpstr>SOP2 scenario (If applicable)</vt:lpstr>
      <vt:lpstr>SOP3 scenario</vt:lpstr>
      <vt:lpstr>Manual linking page (if applicable)</vt:lpstr>
      <vt:lpstr>Manual linking (NO) scenario (if applicable)</vt:lpstr>
      <vt:lpstr>Manual linking (YES) scenario (if applicable)</vt:lpstr>
      <vt:lpstr>Only registration/Sign up Scenario (If applicable)</vt:lpstr>
      <vt:lpstr>Error Handling Only existing users error message</vt:lpstr>
      <vt:lpstr>Error Handling Unverified user restriction </vt:lpstr>
      <vt:lpstr>Error Handling Something went wrong during the login</vt:lpstr>
      <vt:lpstr>Error Handling User cancel scenario </vt:lpstr>
      <vt:lpstr>Logout scenario </vt:lpstr>
      <vt:lpstr>APP to WEB scenario (if mobile integration)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Chloe Lim</dc:creator>
  <cp:lastModifiedBy>Kasuni Ranasinghe</cp:lastModifiedBy>
  <cp:revision>22</cp:revision>
  <dcterms:created xsi:type="dcterms:W3CDTF">2022-11-03T06:58:41Z</dcterms:created>
  <dcterms:modified xsi:type="dcterms:W3CDTF">2024-10-20T06:27:48Z</dcterms:modified>
</cp:coreProperties>
</file>